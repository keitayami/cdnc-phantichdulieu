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D1B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5A162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5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NGHIÊN CỨU ĐỀ ÁN · PHÂN TÍCH DỮ LIỆU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E9C7C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Khung phân tích rủi ro tín dụng đầu-cuối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xác suất vỡ nợ (PD)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C56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đến 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 thất kỳ vọng (Expected Loss)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C7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· Hiệu chỉnh xác suất · EAD proxy · PD × EAD × LGD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892040"/>
            <a:ext cx="502920" cy="502920"/>
          </a:xfrm>
          <a:prstGeom prst="ellipse">
            <a:avLst/>
          </a:prstGeom>
          <a:solidFill>
            <a:srgbClr val="9E2B3F"/>
          </a:solidFill>
          <a:ln/>
        </p:spPr>
      </p:sp>
      <p:pic>
        <p:nvPicPr>
          <p:cNvPr id="9" name="Image 0" descr="icons/char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5022799"/>
            <a:ext cx="241402" cy="24140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48463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
</a:t>
            </a:r>
            <a:pPr indent="0" marL="0">
              <a:buNone/>
            </a:pPr>
            <a:r>
              <a:rPr lang="en-US" sz="1200" dirty="0">
                <a:solidFill>
                  <a:srgbClr val="E9C7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UCI Credit Card · 30.000 khách hàng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583680" y="48006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5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Giảng viên hướng dẫn:  </a:t>
            </a:r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PGS. TS Nguyễn Đình Thuân
</a:t>
            </a:r>
            <a:pPr algn="r" indent="0" marL="0">
              <a:buNone/>
            </a:pPr>
            <a:r>
              <a:rPr lang="en-US" sz="1300" dirty="0">
                <a:solidFill>
                  <a:srgbClr val="C5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viên thực hiện:  </a:t>
            </a:r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250104001 – Trần Thái Ân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E2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Bối cảnh &amp; Lý do chọn đề tài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285232" cy="2148840"/>
          </a:xfrm>
          <a:prstGeom prst="roundRect">
            <a:avLst>
              <a:gd name="adj" fmla="val 4255"/>
            </a:avLst>
          </a:prstGeom>
          <a:solidFill>
            <a:srgbClr val="F7F1F0"/>
          </a:solidFill>
          <a:ln w="12700">
            <a:solidFill>
              <a:srgbClr val="F0DD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39112"/>
            <a:ext cx="566928" cy="566928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6" name="Image 0" descr="icons/warning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073" y="2186513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03911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Rủi ro tín dụng gia tăng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04672" y="2743200"/>
            <a:ext cx="4800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Nợ xấu và vỡ nợ thẻ tín dụng gây áp lực lớn cho ngân hàng và tổ chức tín dụng, làm tăng biến động kinh tế.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1783080"/>
            <a:ext cx="5285232" cy="2148840"/>
          </a:xfrm>
          <a:prstGeom prst="roundRect">
            <a:avLst>
              <a:gd name="adj" fmla="val 4255"/>
            </a:avLst>
          </a:prstGeom>
          <a:solidFill>
            <a:srgbClr val="F7F1F0"/>
          </a:solidFill>
          <a:ln w="12700">
            <a:solidFill>
              <a:srgbClr val="F0DD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11112" y="2039112"/>
            <a:ext cx="566928" cy="566928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11" name="Image 1" descr="icons/gaug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8513" y="2186513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03911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tín dụng truyền thống hạn chế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11112" y="2743200"/>
            <a:ext cx="4800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dựa vào thu nhập và tài sản, bỏ qua diễn biến hành vi trả nợ theo thời gian của khách hàng.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160520"/>
            <a:ext cx="5285232" cy="2148840"/>
          </a:xfrm>
          <a:prstGeom prst="roundRect">
            <a:avLst>
              <a:gd name="adj" fmla="val 4255"/>
            </a:avLst>
          </a:prstGeom>
          <a:solidFill>
            <a:srgbClr val="F7F1F0"/>
          </a:solidFill>
          <a:ln w="12700">
            <a:solidFill>
              <a:srgbClr val="F0DDE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4416552"/>
            <a:ext cx="566928" cy="566928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16" name="Image 2" descr="icons/bra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073" y="4563953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441655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Hành vi trả nợ bị bỏ sót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04672" y="5120640"/>
            <a:ext cx="4800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khách hàng trì hoãn trả nợ phản ánh thói quen và tâm lý tài chính — tín hiệu rất giá trị cho dự báo.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55080" y="4160520"/>
            <a:ext cx="5285232" cy="2148840"/>
          </a:xfrm>
          <a:prstGeom prst="roundRect">
            <a:avLst>
              <a:gd name="adj" fmla="val 4255"/>
            </a:avLst>
          </a:prstGeom>
          <a:solidFill>
            <a:srgbClr val="F7F1F0"/>
          </a:solidFill>
          <a:ln w="12700">
            <a:solidFill>
              <a:srgbClr val="F0DDE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611112" y="4416552"/>
            <a:ext cx="566928" cy="566928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21" name="Image 3" descr="icons/tre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513" y="4563953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41655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chỉ dừng ở PD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611112" y="5120640"/>
            <a:ext cx="4800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tài mở rộng sang ước lượng dư nợ (EAD) và Tổn thất kỳ vọng, đưa ra bức tranh rủi ro đầy đủ hơn.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146017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E2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dữ liệu &amp; Tiền xử lý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74920" cy="4206240"/>
          </a:xfrm>
          <a:prstGeom prst="roundRect">
            <a:avLst>
              <a:gd name="adj" fmla="val 2174"/>
            </a:avLst>
          </a:prstGeom>
          <a:solidFill>
            <a:srgbClr val="6D1B2E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48640" cy="548640"/>
          </a:xfrm>
          <a:prstGeom prst="ellipse">
            <a:avLst/>
          </a:prstGeom>
          <a:solidFill>
            <a:srgbClr val="9E2B3F"/>
          </a:solidFill>
          <a:ln/>
        </p:spPr>
      </p:sp>
      <p:pic>
        <p:nvPicPr>
          <p:cNvPr id="6" name="Image 0" descr="icons/databa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326" y="22914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14884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UCI Credit Card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88036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5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
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uciml/default-of-credit-card-clients (Kaggle)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3630168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5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mô
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30.000 khách hàng thẻ tín dụng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4379976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5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Biến mục tiêu
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DEFAULT: 0 = không vỡ nợ, 1 = vỡ nợ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5129784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5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Tỷ lệ vỡ nợ
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22,1% — dữ liệu mất cân bằng lớp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0" y="18288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biến chính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943600" y="2331720"/>
            <a:ext cx="5669280" cy="566928"/>
          </a:xfrm>
          <a:prstGeom prst="roundRect">
            <a:avLst>
              <a:gd name="adj" fmla="val 9677"/>
            </a:avLst>
          </a:prstGeom>
          <a:solidFill>
            <a:srgbClr val="F7F1F0"/>
          </a:solidFill>
          <a:ln/>
        </p:spPr>
      </p:sp>
      <p:sp>
        <p:nvSpPr>
          <p:cNvPr id="14" name="Text 11"/>
          <p:cNvSpPr/>
          <p:nvPr/>
        </p:nvSpPr>
        <p:spPr>
          <a:xfrm>
            <a:off x="6080760" y="2331720"/>
            <a:ext cx="2103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PAY_0 – PAY_6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0" y="2331720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Lịch sử trạng thái trả nợ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43600" y="2990088"/>
            <a:ext cx="5669280" cy="566928"/>
          </a:xfrm>
          <a:prstGeom prst="roundRect">
            <a:avLst>
              <a:gd name="adj" fmla="val 9677"/>
            </a:avLst>
          </a:prstGeom>
          <a:solidFill>
            <a:srgbClr val="F7F1F0"/>
          </a:solidFill>
          <a:ln/>
        </p:spPr>
      </p:sp>
      <p:sp>
        <p:nvSpPr>
          <p:cNvPr id="17" name="Text 14"/>
          <p:cNvSpPr/>
          <p:nvPr/>
        </p:nvSpPr>
        <p:spPr>
          <a:xfrm>
            <a:off x="6080760" y="2990088"/>
            <a:ext cx="2103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LIMIT_BAL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29600" y="2990088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mức tín dụng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943600" y="3648456"/>
            <a:ext cx="5669280" cy="566928"/>
          </a:xfrm>
          <a:prstGeom prst="roundRect">
            <a:avLst>
              <a:gd name="adj" fmla="val 9677"/>
            </a:avLst>
          </a:prstGeom>
          <a:solidFill>
            <a:srgbClr val="F7F1F0"/>
          </a:solidFill>
          <a:ln/>
        </p:spPr>
      </p:sp>
      <p:sp>
        <p:nvSpPr>
          <p:cNvPr id="20" name="Text 17"/>
          <p:cNvSpPr/>
          <p:nvPr/>
        </p:nvSpPr>
        <p:spPr>
          <a:xfrm>
            <a:off x="6080760" y="3648456"/>
            <a:ext cx="2103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BILL_AMT1–6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29600" y="3648456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Dư nợ sao kê từng kỳ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943600" y="4306824"/>
            <a:ext cx="5669280" cy="566928"/>
          </a:xfrm>
          <a:prstGeom prst="roundRect">
            <a:avLst>
              <a:gd name="adj" fmla="val 9677"/>
            </a:avLst>
          </a:prstGeom>
          <a:solidFill>
            <a:srgbClr val="F7F1F0"/>
          </a:solidFill>
          <a:ln/>
        </p:spPr>
      </p:sp>
      <p:sp>
        <p:nvSpPr>
          <p:cNvPr id="23" name="Text 20"/>
          <p:cNvSpPr/>
          <p:nvPr/>
        </p:nvSpPr>
        <p:spPr>
          <a:xfrm>
            <a:off x="6080760" y="4306824"/>
            <a:ext cx="2103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1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PAY_AMT1–6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0" y="4306824"/>
            <a:ext cx="3291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tiền đã thanh toán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943600" y="5074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tắc tiền xử lý chính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989320" y="5440680"/>
            <a:ext cx="5669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Gộp trạng thái PAY_x ≤ 0 về 0 (không trễ hạn)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Gộp mã hiếm của EDUCATION / MARRIAGE về nhóm 'Khác'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đặc trưng hành vi: utilization, số kỳ trễ, xu hướng dư nợ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Train / Test 70/30 (stratify, random_state = 42)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146017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E2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Khung phân tích 4 lớp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70048" cy="3063240"/>
          </a:xfrm>
          <a:prstGeom prst="roundRect">
            <a:avLst>
              <a:gd name="adj" fmla="val 3425"/>
            </a:avLst>
          </a:prstGeom>
          <a:solidFill>
            <a:srgbClr val="6D1B2E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86000"/>
            <a:ext cx="603504" cy="603504"/>
          </a:xfrm>
          <a:prstGeom prst="ellipse">
            <a:avLst/>
          </a:prstGeom>
          <a:solidFill>
            <a:srgbClr val="9E2B3F"/>
          </a:solidFill>
          <a:ln/>
        </p:spPr>
      </p:sp>
      <p:pic>
        <p:nvPicPr>
          <p:cNvPr id="6" name="Image 0" descr="icons/search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2442911"/>
            <a:ext cx="289682" cy="2896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350008" y="214884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9E2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22960" y="3063240"/>
            <a:ext cx="21671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profiling &amp; EDA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22960" y="3749040"/>
            <a:ext cx="2167128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0D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tả chất lượng dữ liệu, mất cân bằng lớp, nhân khẩu học và hành vi tín dụng.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64992" y="1965960"/>
            <a:ext cx="2670048" cy="3063240"/>
          </a:xfrm>
          <a:prstGeom prst="roundRect">
            <a:avLst>
              <a:gd name="adj" fmla="val 3425"/>
            </a:avLst>
          </a:prstGeom>
          <a:solidFill>
            <a:srgbClr val="F7F1F0"/>
          </a:solidFill>
          <a:ln/>
        </p:spPr>
      </p:sp>
      <p:sp>
        <p:nvSpPr>
          <p:cNvPr id="11" name="Shape 8"/>
          <p:cNvSpPr/>
          <p:nvPr/>
        </p:nvSpPr>
        <p:spPr>
          <a:xfrm>
            <a:off x="3639312" y="2286000"/>
            <a:ext cx="603504" cy="603504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12" name="Image 1" descr="icons/percen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223" y="2442911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66360" y="214884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F0DD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4" name="Text 10"/>
          <p:cNvSpPr/>
          <p:nvPr/>
        </p:nvSpPr>
        <p:spPr>
          <a:xfrm>
            <a:off x="3639312" y="3063240"/>
            <a:ext cx="21671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of Default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3639312" y="3749040"/>
            <a:ext cx="2167128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Baseline, Logistic Regression và Random Forest để ước lượng xác suất vỡ nợ.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181344" y="1965960"/>
            <a:ext cx="2670048" cy="3063240"/>
          </a:xfrm>
          <a:prstGeom prst="roundRect">
            <a:avLst>
              <a:gd name="adj" fmla="val 3425"/>
            </a:avLst>
          </a:prstGeom>
          <a:solidFill>
            <a:srgbClr val="6D1B2E"/>
          </a:solidFill>
          <a:ln/>
        </p:spPr>
      </p:sp>
      <p:sp>
        <p:nvSpPr>
          <p:cNvPr id="17" name="Shape 13"/>
          <p:cNvSpPr/>
          <p:nvPr/>
        </p:nvSpPr>
        <p:spPr>
          <a:xfrm>
            <a:off x="6455664" y="2286000"/>
            <a:ext cx="603504" cy="603504"/>
          </a:xfrm>
          <a:prstGeom prst="ellipse">
            <a:avLst/>
          </a:prstGeom>
          <a:solidFill>
            <a:srgbClr val="9E2B3F"/>
          </a:solidFill>
          <a:ln/>
        </p:spPr>
      </p:sp>
      <p:pic>
        <p:nvPicPr>
          <p:cNvPr id="18" name="Image 2" descr="icons/coin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575" y="2442911"/>
            <a:ext cx="289682" cy="28968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982712" y="214884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9E2B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200" dirty="0"/>
          </a:p>
        </p:txBody>
      </p:sp>
      <p:sp>
        <p:nvSpPr>
          <p:cNvPr id="20" name="Text 15"/>
          <p:cNvSpPr/>
          <p:nvPr/>
        </p:nvSpPr>
        <p:spPr>
          <a:xfrm>
            <a:off x="6455664" y="3063240"/>
            <a:ext cx="21671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EAD proxy</a:t>
            </a:r>
            <a:endParaRPr lang="en-US" sz="1550" dirty="0"/>
          </a:p>
        </p:txBody>
      </p:sp>
      <p:sp>
        <p:nvSpPr>
          <p:cNvPr id="21" name="Text 16"/>
          <p:cNvSpPr/>
          <p:nvPr/>
        </p:nvSpPr>
        <p:spPr>
          <a:xfrm>
            <a:off x="6455664" y="3749040"/>
            <a:ext cx="2167128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0D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dư nợ dương kỳ gần nhất (BILL_AMT1) từ các kỳ lịch sử trước đó.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997696" y="1965960"/>
            <a:ext cx="2670048" cy="3063240"/>
          </a:xfrm>
          <a:prstGeom prst="roundRect">
            <a:avLst>
              <a:gd name="adj" fmla="val 3425"/>
            </a:avLst>
          </a:prstGeom>
          <a:solidFill>
            <a:srgbClr val="F7F1F0"/>
          </a:solidFill>
          <a:ln/>
        </p:spPr>
      </p:sp>
      <p:sp>
        <p:nvSpPr>
          <p:cNvPr id="23" name="Shape 18"/>
          <p:cNvSpPr/>
          <p:nvPr/>
        </p:nvSpPr>
        <p:spPr>
          <a:xfrm>
            <a:off x="9272016" y="2286000"/>
            <a:ext cx="603504" cy="603504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24" name="Image 3" descr="icons/scal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927" y="2442911"/>
            <a:ext cx="289682" cy="28968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799064" y="2148840"/>
            <a:ext cx="73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200" b="1" dirty="0">
                <a:solidFill>
                  <a:srgbClr val="F0DD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200" dirty="0"/>
          </a:p>
        </p:txBody>
      </p:sp>
      <p:sp>
        <p:nvSpPr>
          <p:cNvPr id="26" name="Text 20"/>
          <p:cNvSpPr/>
          <p:nvPr/>
        </p:nvSpPr>
        <p:spPr>
          <a:xfrm>
            <a:off x="9272016" y="3063240"/>
            <a:ext cx="216712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Loss</a:t>
            </a:r>
            <a:endParaRPr lang="en-US" sz="1550" dirty="0"/>
          </a:p>
        </p:txBody>
      </p:sp>
      <p:sp>
        <p:nvSpPr>
          <p:cNvPr id="27" name="Text 21"/>
          <p:cNvSpPr/>
          <p:nvPr/>
        </p:nvSpPr>
        <p:spPr>
          <a:xfrm>
            <a:off x="9272016" y="3749040"/>
            <a:ext cx="2167128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hợp PD × EAD × LGD theo ba kịch bản tổn thất và kiểm tra tính hợp lý.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3108960" y="32004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9" name="Text 23"/>
          <p:cNvSpPr/>
          <p:nvPr/>
        </p:nvSpPr>
        <p:spPr>
          <a:xfrm>
            <a:off x="5925312" y="32004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Text 24"/>
          <p:cNvSpPr/>
          <p:nvPr/>
        </p:nvSpPr>
        <p:spPr>
          <a:xfrm>
            <a:off x="8741664" y="32004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Text 25"/>
          <p:cNvSpPr/>
          <p:nvPr/>
        </p:nvSpPr>
        <p:spPr>
          <a:xfrm>
            <a:off x="548640" y="53492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lớp chỉ dùng thông tin đúng kỳ để tránh rò rỉ dữ liệu (target leakage) — PD &amp; EAD cảnh báo sớm chỉ dùng các kỳ trước BILL_AMT1.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1146017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E2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Mất cân bằng lớp &amp; ngưỡng rủi ro</a:t>
            </a:r>
            <a:endParaRPr lang="en-US" sz="3000" dirty="0"/>
          </a:p>
        </p:txBody>
      </p:sp>
      <p:pic>
        <p:nvPicPr>
          <p:cNvPr id="4" name="Image 0" descr="charts/01_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4983480" cy="3154680"/>
          </a:xfrm>
          <a:prstGeom prst="rect">
            <a:avLst/>
          </a:prstGeom>
        </p:spPr>
      </p:pic>
      <p:pic>
        <p:nvPicPr>
          <p:cNvPr id="5" name="Image 1" descr="charts/02_pay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783080"/>
            <a:ext cx="5897880" cy="3246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02920" y="5257800"/>
            <a:ext cx="11201400" cy="1097280"/>
          </a:xfrm>
          <a:prstGeom prst="roundRect">
            <a:avLst>
              <a:gd name="adj" fmla="val 6667"/>
            </a:avLst>
          </a:prstGeom>
          <a:solidFill>
            <a:srgbClr val="F7F1F0"/>
          </a:solidFill>
          <a:ln/>
        </p:spPr>
      </p:sp>
      <p:sp>
        <p:nvSpPr>
          <p:cNvPr id="7" name="Shape 3"/>
          <p:cNvSpPr/>
          <p:nvPr/>
        </p:nvSpPr>
        <p:spPr>
          <a:xfrm>
            <a:off x="731520" y="5440680"/>
            <a:ext cx="502920" cy="502920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8" name="Image 2" descr="icons/targ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79" y="5571439"/>
            <a:ext cx="241402" cy="24140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417320" y="5349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rủi ro quan sát được: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mức trễ hạn đạt 2 tháng trở lên, tỷ lệ vỡ nợ tăng vọt lên 55–75%. Đây là mối liên hệ thống kê mạnh giữa trễ hạn và vỡ nợ, không dùng để kết luận quan hệ nhân quả.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1146017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E2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xác suất vỡ nợ (PD)</a:t>
            </a:r>
            <a:endParaRPr lang="en-US" sz="3000" dirty="0"/>
          </a:p>
        </p:txBody>
      </p:sp>
      <p:pic>
        <p:nvPicPr>
          <p:cNvPr id="4" name="Image 0" descr="charts/03_pd_mod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83080"/>
            <a:ext cx="640080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78040" y="1828800"/>
            <a:ext cx="4526280" cy="1097280"/>
          </a:xfrm>
          <a:prstGeom prst="roundRect">
            <a:avLst>
              <a:gd name="adj" fmla="val 6667"/>
            </a:avLst>
          </a:prstGeom>
          <a:solidFill>
            <a:srgbClr val="F7F1F0"/>
          </a:solidFill>
          <a:ln/>
        </p:spPr>
      </p:sp>
      <p:sp>
        <p:nvSpPr>
          <p:cNvPr id="6" name="Shape 3"/>
          <p:cNvSpPr/>
          <p:nvPr/>
        </p:nvSpPr>
        <p:spPr>
          <a:xfrm>
            <a:off x="7406640" y="2084832"/>
            <a:ext cx="530352" cy="530352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7" name="Image 1" descr="icons/balanc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532" y="2222724"/>
            <a:ext cx="254569" cy="25456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092440" y="1938528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Cân bằng lớp
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class_weight='balanced' tăng Recall nhóm vỡ nợ từ 35% lên 58%.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7178040" y="3035808"/>
            <a:ext cx="4526280" cy="1097280"/>
          </a:xfrm>
          <a:prstGeom prst="roundRect">
            <a:avLst>
              <a:gd name="adj" fmla="val 6667"/>
            </a:avLst>
          </a:prstGeom>
          <a:solidFill>
            <a:srgbClr val="F7F1F0"/>
          </a:solidFill>
          <a:ln/>
        </p:spPr>
      </p:sp>
      <p:sp>
        <p:nvSpPr>
          <p:cNvPr id="10" name="Shape 6"/>
          <p:cNvSpPr/>
          <p:nvPr/>
        </p:nvSpPr>
        <p:spPr>
          <a:xfrm>
            <a:off x="7406640" y="3291840"/>
            <a:ext cx="530352" cy="530352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11" name="Image 2" descr="icons/tre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532" y="3429732"/>
            <a:ext cx="254569" cy="25456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92440" y="3145536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thắng thế
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 tốt quan hệ phi tuyến, nhiều biến, ROC-AUC ≈ 0,77.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7178040" y="4242816"/>
            <a:ext cx="4526280" cy="1097280"/>
          </a:xfrm>
          <a:prstGeom prst="roundRect">
            <a:avLst>
              <a:gd name="adj" fmla="val 6667"/>
            </a:avLst>
          </a:prstGeom>
          <a:solidFill>
            <a:srgbClr val="F7F1F0"/>
          </a:solidFill>
          <a:ln/>
        </p:spPr>
      </p:sp>
      <p:sp>
        <p:nvSpPr>
          <p:cNvPr id="14" name="Shape 9"/>
          <p:cNvSpPr/>
          <p:nvPr/>
        </p:nvSpPr>
        <p:spPr>
          <a:xfrm>
            <a:off x="7406640" y="4498848"/>
            <a:ext cx="530352" cy="530352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15" name="Image 3" descr="icons/gaug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4532" y="4636740"/>
            <a:ext cx="254569" cy="254569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092440" y="4352544"/>
            <a:ext cx="3520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Đánh đổi rõ ràng
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 cao hơn đổi lại Accuracy và Precision giảm nhẹ.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502920" y="5623560"/>
            <a:ext cx="1115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nhóm mô hình được so sánh: Dummy (đường cơ sở), Logistic Regression và Random Forest (cấu hình gốc + cân bằng lớp).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146017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E2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mô hình &amp; biến quan trọng</a:t>
            </a:r>
            <a:endParaRPr lang="en-US" sz="3000" dirty="0"/>
          </a:p>
        </p:txBody>
      </p:sp>
      <p:pic>
        <p:nvPicPr>
          <p:cNvPr id="4" name="Image 0" descr="charts/04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5943600" cy="3657600"/>
          </a:xfrm>
          <a:prstGeom prst="rect">
            <a:avLst/>
          </a:prstGeom>
        </p:spPr>
      </p:pic>
      <p:pic>
        <p:nvPicPr>
          <p:cNvPr id="5" name="Image 1" descr="charts/07_confu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783080"/>
            <a:ext cx="4023360" cy="34290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675120" y="5349240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6D1B2E"/>
          </a:solidFill>
          <a:ln/>
        </p:spPr>
      </p:sp>
      <p:sp>
        <p:nvSpPr>
          <p:cNvPr id="7" name="Text 3"/>
          <p:cNvSpPr/>
          <p:nvPr/>
        </p:nvSpPr>
        <p:spPr>
          <a:xfrm>
            <a:off x="6903720" y="54406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PAY_0 là biến quan trọng nhất.
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0D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Tháng gần nhất trong chu kỳ phản ánh rõ nhất khả năng vỡ nợ ở kỳ tiếp theo.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1146017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E2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06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Hiệu chỉnh xác suất &amp; Tổn thất kỳ vọng</a:t>
            </a:r>
            <a:endParaRPr lang="en-US" sz="3000" dirty="0"/>
          </a:p>
        </p:txBody>
      </p:sp>
      <p:pic>
        <p:nvPicPr>
          <p:cNvPr id="4" name="Image 0" descr="charts/05_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83080"/>
            <a:ext cx="5852160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83680" y="178308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F7F1F0"/>
          </a:solidFill>
          <a:ln/>
        </p:spPr>
      </p:sp>
      <p:sp>
        <p:nvSpPr>
          <p:cNvPr id="6" name="Shape 3"/>
          <p:cNvSpPr/>
          <p:nvPr/>
        </p:nvSpPr>
        <p:spPr>
          <a:xfrm>
            <a:off x="6812280" y="2011680"/>
            <a:ext cx="530352" cy="530352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7" name="Image 1" descr="icons/slider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0172" y="2149572"/>
            <a:ext cx="254569" cy="25456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0" y="1874520"/>
            <a:ext cx="4114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calibration?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cân bằng lớp cho Recall tốt nhưng xác suất bị lệch. Sigmoid calibration đưa PD sát tỷ lệ vỡ nợ thực tế trước khi tính tổn thất.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583680" y="3429000"/>
            <a:ext cx="5120640" cy="1051560"/>
          </a:xfrm>
          <a:prstGeom prst="roundRect">
            <a:avLst>
              <a:gd name="adj" fmla="val 8696"/>
            </a:avLst>
          </a:prstGeom>
          <a:solidFill>
            <a:srgbClr val="6D1B2E"/>
          </a:solidFill>
          <a:ln/>
        </p:spPr>
      </p:sp>
      <p:sp>
        <p:nvSpPr>
          <p:cNvPr id="10" name="Text 6"/>
          <p:cNvSpPr/>
          <p:nvPr/>
        </p:nvSpPr>
        <p:spPr>
          <a:xfrm>
            <a:off x="6766560" y="34747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Loss</a:t>
            </a:r>
            <a:pPr algn="ctr" indent="0" marL="0">
              <a:buNone/>
            </a:pPr>
            <a:r>
              <a:rPr lang="en-US" sz="2100" dirty="0">
                <a:solidFill>
                  <a:srgbClr val="C56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=  </a:t>
            </a:r>
            <a:pPr algn="ctr" indent="0" marL="0">
              <a:buNone/>
            </a:pPr>
            <a:r>
              <a:rPr lang="en-US" sz="2100" b="1" dirty="0">
                <a:solidFill>
                  <a:srgbClr val="F9D5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</a:t>
            </a:r>
            <a:pPr algn="ctr" indent="0" marL="0">
              <a:buNone/>
            </a:pPr>
            <a:r>
              <a:rPr lang="en-US" sz="2100" dirty="0">
                <a:solidFill>
                  <a:srgbClr val="C56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</a:t>
            </a:r>
            <a:pPr algn="ctr" indent="0" marL="0">
              <a:buNone/>
            </a:pPr>
            <a:r>
              <a:rPr lang="en-US" sz="2100" b="1" dirty="0">
                <a:solidFill>
                  <a:srgbClr val="F9D5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EAD</a:t>
            </a:r>
            <a:pPr algn="ctr" indent="0" marL="0">
              <a:buNone/>
            </a:pPr>
            <a:r>
              <a:rPr lang="en-US" sz="2100" dirty="0">
                <a:solidFill>
                  <a:srgbClr val="C56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</a:t>
            </a:r>
            <a:pPr algn="ctr" indent="0" marL="0">
              <a:buNone/>
            </a:pPr>
            <a:r>
              <a:rPr lang="en-US" sz="2100" b="1" dirty="0">
                <a:solidFill>
                  <a:srgbClr val="F9D5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LGD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6766560" y="40416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0D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 hiệu chỉnh  ·  EAD = max(BILL_AMT1, 0) dự báo  ·  LGD = 30% / 50% / 70% (kịch bản)</a:t>
            </a:r>
            <a:endParaRPr lang="en-US" sz="1050" dirty="0"/>
          </a:p>
        </p:txBody>
      </p:sp>
      <p:pic>
        <p:nvPicPr>
          <p:cNvPr id="12" name="Image 2" descr="charts/06_expected_lo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00"/>
            <a:ext cx="5349240" cy="196596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57200" y="5349240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F0DDE0"/>
          </a:solidFill>
          <a:ln/>
        </p:spPr>
      </p:sp>
      <p:sp>
        <p:nvSpPr>
          <p:cNvPr id="14" name="Text 9"/>
          <p:cNvSpPr/>
          <p:nvPr/>
        </p:nvSpPr>
        <p:spPr>
          <a:xfrm>
            <a:off x="640080" y="544068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 sau calibration bám sát đường thực tế.
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Brier score và log loss cải thiện, giúp Expected Loss đáng tin hơn.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46017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E2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07 · KẾT LUẬN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D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&amp; Đề xuất phòng chống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343400"/>
          </a:xfrm>
          <a:prstGeom prst="roundRect">
            <a:avLst>
              <a:gd name="adj" fmla="val 2105"/>
            </a:avLst>
          </a:prstGeom>
          <a:solidFill>
            <a:srgbClr val="6D1B2E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548640" cy="548640"/>
          </a:xfrm>
          <a:prstGeom prst="ellipse">
            <a:avLst/>
          </a:prstGeom>
          <a:solidFill>
            <a:srgbClr val="9E2B3F"/>
          </a:solidFill>
          <a:ln/>
        </p:spPr>
      </p:sp>
      <p:pic>
        <p:nvPicPr>
          <p:cNvPr id="6" name="Image 0" descr="icons/che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4576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1031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chính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788920"/>
            <a:ext cx="4892040" cy="3246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7F1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Lịch sử trễ hạn gần nhất (PAY_0) và số kỳ trễ là nhóm tín hiệu mạnh nhất cho khả năng vỡ nợ.</a:t>
            </a:r>
            <a:endParaRPr lang="en-US" sz="1250" dirty="0"/>
          </a:p>
          <a:p>
            <a:pPr marL="190500" indent="-1905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7F1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cân bằng lớp cải thiện phát hiện khách hàng vỡ nợ (Recall ↑), ROC-AUC ≈ 0,77.</a:t>
            </a:r>
            <a:endParaRPr lang="en-US" sz="1250" dirty="0"/>
          </a:p>
          <a:p>
            <a:pPr marL="190500" indent="-1905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7F1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 cần được calibration trước khi đưa vào công thức Expected Loss.</a:t>
            </a:r>
            <a:endParaRPr lang="en-US" sz="1250" dirty="0"/>
          </a:p>
          <a:p>
            <a:pPr marL="190500" indent="-1905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7F1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EAD proxy dự báo tốt từ dư nợ các kỳ trước, nhưng không phải EAD thực tế tại thời điểm vỡ nợ.</a:t>
            </a:r>
            <a:endParaRPr lang="en-US" sz="1250" dirty="0"/>
          </a:p>
          <a:p>
            <a:pPr marL="190500" indent="-1905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7F1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Loss giúp ưu tiên khách hàng vừa có PD cao vừa có dư nợ dự kiến lớn.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263640" y="1828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Biện pháp phòng chống đề xuất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2377440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F7F1F0"/>
          </a:solidFill>
          <a:ln/>
        </p:spPr>
      </p:sp>
      <p:sp>
        <p:nvSpPr>
          <p:cNvPr id="11" name="Shape 8"/>
          <p:cNvSpPr/>
          <p:nvPr/>
        </p:nvSpPr>
        <p:spPr>
          <a:xfrm>
            <a:off x="6473952" y="2551176"/>
            <a:ext cx="548640" cy="548640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12" name="Image 1" descr="icons/bell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598" y="2693822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78040" y="2432304"/>
            <a:ext cx="4434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 báo sớm
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cờ khách hàng nguy cơ cao ngay khi PAY chạm mốc trễ 2 tháng.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3346704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F7F1F0"/>
          </a:solidFill>
          <a:ln/>
        </p:spPr>
      </p:sp>
      <p:sp>
        <p:nvSpPr>
          <p:cNvPr id="15" name="Shape 11"/>
          <p:cNvSpPr/>
          <p:nvPr/>
        </p:nvSpPr>
        <p:spPr>
          <a:xfrm>
            <a:off x="6473952" y="3520440"/>
            <a:ext cx="548640" cy="548640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16" name="Image 2" descr="icons/sliders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598" y="36630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78040" y="3401568"/>
            <a:ext cx="4434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chỉnh hạn mức
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Siết hạn mức và lãi suất theo mức rủi ro mô hình dự đoán.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6263640" y="4315968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F7F1F0"/>
          </a:solidFill>
          <a:ln/>
        </p:spPr>
      </p:sp>
      <p:sp>
        <p:nvSpPr>
          <p:cNvPr id="19" name="Shape 14"/>
          <p:cNvSpPr/>
          <p:nvPr/>
        </p:nvSpPr>
        <p:spPr>
          <a:xfrm>
            <a:off x="6473952" y="4489704"/>
            <a:ext cx="548640" cy="548640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20" name="Image 3" descr="icons/handshak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598" y="4632350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178040" y="4370832"/>
            <a:ext cx="4434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Hỗ trợ chủ động
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 vấn cơ cấu nợ, nhắc lịch trả trước hạn cho nhóm rủi ro cao.</a:t>
            </a:r>
            <a:endParaRPr lang="en-US" sz="1350" dirty="0"/>
          </a:p>
        </p:txBody>
      </p:sp>
      <p:sp>
        <p:nvSpPr>
          <p:cNvPr id="22" name="Shape 16"/>
          <p:cNvSpPr/>
          <p:nvPr/>
        </p:nvSpPr>
        <p:spPr>
          <a:xfrm>
            <a:off x="6263640" y="5285232"/>
            <a:ext cx="5440680" cy="896112"/>
          </a:xfrm>
          <a:prstGeom prst="roundRect">
            <a:avLst>
              <a:gd name="adj" fmla="val 8163"/>
            </a:avLst>
          </a:prstGeom>
          <a:solidFill>
            <a:srgbClr val="F7F1F0"/>
          </a:solidFill>
          <a:ln/>
        </p:spPr>
      </p:sp>
      <p:sp>
        <p:nvSpPr>
          <p:cNvPr id="23" name="Shape 17"/>
          <p:cNvSpPr/>
          <p:nvPr/>
        </p:nvSpPr>
        <p:spPr>
          <a:xfrm>
            <a:off x="6473952" y="5458968"/>
            <a:ext cx="548640" cy="548640"/>
          </a:xfrm>
          <a:prstGeom prst="ellipse">
            <a:avLst/>
          </a:prstGeom>
          <a:solidFill>
            <a:srgbClr val="6D1B2E"/>
          </a:solidFill>
          <a:ln/>
        </p:spPr>
      </p:sp>
      <p:pic>
        <p:nvPicPr>
          <p:cNvPr id="24" name="Image 4" descr="icons/coin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6598" y="5601614"/>
            <a:ext cx="263347" cy="263347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178040" y="5340096"/>
            <a:ext cx="4434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6D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Ưu tiên theo Expected Loss
</a:t>
            </a:r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bổ nguồn lực thu hồi vào nhóm Q4 — nơi tập trung phần lớn tổn thất kỳ vọng.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11460175" y="63550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6E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5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07 · KẾT LUẬN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Tính mới &amp; Hạn chế của đề tài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5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mới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5A1626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651760"/>
            <a:ext cx="548640" cy="548640"/>
          </a:xfrm>
          <a:prstGeom prst="ellipse">
            <a:avLst/>
          </a:prstGeom>
          <a:solidFill>
            <a:srgbClr val="9E2B3F"/>
          </a:solidFill>
          <a:ln/>
        </p:spPr>
      </p:sp>
      <p:pic>
        <p:nvPicPr>
          <p:cNvPr id="7" name="Image 0" descr="icons/layer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794406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468880"/>
            <a:ext cx="4343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đầu-cuối PD → EAD → EL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0D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dừng ở phân loại vỡ nợ mà lượng hóa tổn thất kỳ vọng theo kịch bản LGD.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648456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5A1626"/>
          </a:solidFill>
          <a:ln/>
        </p:spPr>
      </p:sp>
      <p:sp>
        <p:nvSpPr>
          <p:cNvPr id="10" name="Shape 7"/>
          <p:cNvSpPr/>
          <p:nvPr/>
        </p:nvSpPr>
        <p:spPr>
          <a:xfrm>
            <a:off x="777240" y="3968496"/>
            <a:ext cx="548640" cy="548640"/>
          </a:xfrm>
          <a:prstGeom prst="ellipse">
            <a:avLst/>
          </a:prstGeom>
          <a:solidFill>
            <a:srgbClr val="9E2B3F"/>
          </a:solidFill>
          <a:ln/>
        </p:spPr>
      </p:sp>
      <p:pic>
        <p:nvPicPr>
          <p:cNvPr id="11" name="Image 1" descr="icons/c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4111142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3785616"/>
            <a:ext cx="4343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 trục thời gian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0D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Tách các kỳ trước BILL_AMT1 để cảnh báo sớm, tránh rò rỉ dữ liệu.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4965192"/>
            <a:ext cx="5394960" cy="1207008"/>
          </a:xfrm>
          <a:prstGeom prst="roundRect">
            <a:avLst>
              <a:gd name="adj" fmla="val 6061"/>
            </a:avLst>
          </a:prstGeom>
          <a:solidFill>
            <a:srgbClr val="5A1626"/>
          </a:solidFill>
          <a:ln/>
        </p:spPr>
      </p:sp>
      <p:sp>
        <p:nvSpPr>
          <p:cNvPr id="14" name="Shape 10"/>
          <p:cNvSpPr/>
          <p:nvPr/>
        </p:nvSpPr>
        <p:spPr>
          <a:xfrm>
            <a:off x="777240" y="5285232"/>
            <a:ext cx="548640" cy="548640"/>
          </a:xfrm>
          <a:prstGeom prst="ellipse">
            <a:avLst/>
          </a:prstGeom>
          <a:solidFill>
            <a:srgbClr val="9E2B3F"/>
          </a:solidFill>
          <a:ln/>
        </p:spPr>
      </p:sp>
      <p:pic>
        <p:nvPicPr>
          <p:cNvPr id="15" name="Image 2" descr="icons/targe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5427878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81328" y="5102352"/>
            <a:ext cx="4343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 đã hiệu chỉnh
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0DD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Sigmoid calibration giúp con số Expected Loss có ý nghĩa nghiệp vụ.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263640" y="1783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56B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cần nêu rõ</a:t>
            </a:r>
            <a:endParaRPr lang="en-US" sz="1700" dirty="0"/>
          </a:p>
        </p:txBody>
      </p:sp>
      <p:sp>
        <p:nvSpPr>
          <p:cNvPr id="18" name="Shape 13"/>
          <p:cNvSpPr/>
          <p:nvPr/>
        </p:nvSpPr>
        <p:spPr>
          <a:xfrm>
            <a:off x="6263640" y="233172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7F1F0"/>
          </a:solidFill>
          <a:ln/>
        </p:spPr>
      </p:sp>
      <p:sp>
        <p:nvSpPr>
          <p:cNvPr id="19" name="Text 14"/>
          <p:cNvSpPr/>
          <p:nvPr/>
        </p:nvSpPr>
        <p:spPr>
          <a:xfrm>
            <a:off x="6537960" y="2514600"/>
            <a:ext cx="5029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chỉ có 6 kỳ lịch sử và một nhãn vỡ nợ của kỳ tiếp theo.</a:t>
            </a:r>
            <a:endParaRPr lang="en-US" sz="1200" dirty="0"/>
          </a:p>
          <a:p>
            <a:pPr marL="190500" indent="-1905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BILL_AMT1 chỉ là đại diện gần đúng cho exposure, không phải EAD quan sát tại thời điểm default.</a:t>
            </a:r>
            <a:endParaRPr lang="en-US" sz="1200" dirty="0"/>
          </a:p>
          <a:p>
            <a:pPr marL="190500" indent="-1905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số tiền thu hồi hay tài sản bảo đảm — LGD 30/50/70% chỉ là kịch bản.</a:t>
            </a:r>
            <a:endParaRPr lang="en-US" sz="1200" dirty="0"/>
          </a:p>
          <a:p>
            <a:pPr marL="190500" indent="-1905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Loss Proxy chỉ dùng kiểm tra tính hợp lý tương đối, không phải tổn thất thực tế.</a:t>
            </a:r>
            <a:endParaRPr lang="en-US" sz="1200" dirty="0"/>
          </a:p>
          <a:p>
            <a:pPr marL="190500" indent="-1905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importance &amp; EDA thể hiện quan hệ dự báo/tương quan, không chứng minh quan hệ nhân quả.</a:t>
            </a:r>
            <a:endParaRPr lang="en-US" sz="1200" dirty="0"/>
          </a:p>
          <a:p>
            <a:pPr marL="190500" indent="-190500">
              <a:lnSpc>
                <a:spcPct val="103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tiền tệ là đơn vị gốc của bộ dữ liệu, không quy đổi sang VND.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2026-07-16T12:38:19Z</dcterms:created>
  <dcterms:modified xsi:type="dcterms:W3CDTF">2026-07-16T12:38:19Z</dcterms:modified>
</cp:coreProperties>
</file>