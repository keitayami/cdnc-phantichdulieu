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2" r:id="rId10"/>
    <p:sldId id="265" r:id="rId11"/>
    <p:sldId id="267" r:id="rId12"/>
    <p:sldId id="268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5956" autoAdjust="0"/>
  </p:normalViewPr>
  <p:slideViewPr>
    <p:cSldViewPr snapToGrid="0" snapToObjects="1">
      <p:cViewPr varScale="1">
        <p:scale>
          <a:sx n="95" d="100"/>
          <a:sy n="95" d="100"/>
        </p:scale>
        <p:origin x="115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7784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PAY_0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trọng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rủi</a:t>
            </a:r>
            <a:r>
              <a:rPr lang="en-US" dirty="0"/>
              <a:t> </a:t>
            </a:r>
            <a:r>
              <a:rPr lang="en-US" dirty="0" err="1"/>
              <a:t>ro</a:t>
            </a:r>
            <a:r>
              <a:rPr lang="en-US" dirty="0"/>
              <a:t> </a:t>
            </a:r>
            <a:r>
              <a:rPr lang="en-US" dirty="0" err="1"/>
              <a:t>vỡ</a:t>
            </a:r>
            <a:r>
              <a:rPr lang="en-US" dirty="0"/>
              <a:t> </a:t>
            </a:r>
            <a:r>
              <a:rPr lang="en-US" dirty="0" err="1"/>
              <a:t>nợ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phản</a:t>
            </a:r>
            <a:r>
              <a:rPr lang="en-US" dirty="0"/>
              <a:t> </a:t>
            </a:r>
            <a:r>
              <a:rPr lang="en-US" dirty="0" err="1"/>
              <a:t>ánh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vị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90343-3DB5-C217-4E48-DD3444F34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04E13E-9878-3D50-B2F5-BC4A79461B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287FA4-4CF6-0364-54F6-373CE01F10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9575EB-F2C8-AF86-DC22-DD8E8ECB4F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4282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259B6-9EAF-6D51-1193-155E90118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B83AD2-C122-E18C-2999-81DC7169AA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584E27-98C2-6AAC-C02B-AE1B159860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sát</a:t>
            </a:r>
            <a:r>
              <a:rPr lang="en-US" dirty="0"/>
              <a:t> </a:t>
            </a:r>
            <a:r>
              <a:rPr lang="en-US" dirty="0" err="1"/>
              <a:t>rõ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, </a:t>
            </a:r>
            <a:r>
              <a:rPr lang="en-US" dirty="0" err="1"/>
              <a:t>cũng</a:t>
            </a:r>
            <a:r>
              <a:rPr lang="en-US" dirty="0"/>
              <a:t> so </a:t>
            </a:r>
            <a:r>
              <a:rPr lang="en-US" dirty="0" err="1"/>
              <a:t>sánh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tháng</a:t>
            </a:r>
            <a:r>
              <a:rPr lang="en-US" dirty="0"/>
              <a:t> </a:t>
            </a:r>
            <a:r>
              <a:rPr lang="en-US" dirty="0" err="1"/>
              <a:t>trễ</a:t>
            </a:r>
            <a:r>
              <a:rPr lang="en-US" dirty="0"/>
              <a:t> </a:t>
            </a:r>
            <a:r>
              <a:rPr lang="en-US" dirty="0" err="1"/>
              <a:t>hạn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thấy</a:t>
            </a:r>
            <a:r>
              <a:rPr lang="en-US" dirty="0"/>
              <a:t> </a:t>
            </a:r>
            <a:r>
              <a:rPr lang="en-US" dirty="0" err="1"/>
              <a:t>rõ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biệt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sao</a:t>
            </a:r>
            <a:r>
              <a:rPr lang="en-US" dirty="0"/>
              <a:t> </a:t>
            </a:r>
            <a:r>
              <a:rPr lang="en-US" dirty="0" err="1"/>
              <a:t>trễ</a:t>
            </a:r>
            <a:r>
              <a:rPr lang="en-US" dirty="0"/>
              <a:t> </a:t>
            </a:r>
            <a:r>
              <a:rPr lang="en-US" dirty="0" err="1"/>
              <a:t>hạn</a:t>
            </a:r>
            <a:r>
              <a:rPr lang="en-US" dirty="0"/>
              <a:t> 2 </a:t>
            </a:r>
            <a:r>
              <a:rPr lang="en-US" dirty="0" err="1"/>
              <a:t>tháng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cột</a:t>
            </a:r>
            <a:r>
              <a:rPr lang="en-US" dirty="0"/>
              <a:t> </a:t>
            </a:r>
            <a:r>
              <a:rPr lang="en-US" dirty="0" err="1"/>
              <a:t>mốc</a:t>
            </a:r>
            <a:r>
              <a:rPr lang="en-US" dirty="0"/>
              <a:t> </a:t>
            </a:r>
            <a:r>
              <a:rPr lang="en-US" dirty="0" err="1"/>
              <a:t>dẫn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tỷ</a:t>
            </a:r>
            <a:r>
              <a:rPr lang="en-US" dirty="0"/>
              <a:t> </a:t>
            </a:r>
            <a:r>
              <a:rPr lang="en-US" dirty="0" err="1"/>
              <a:t>lệ</a:t>
            </a:r>
            <a:r>
              <a:rPr lang="en-US" dirty="0"/>
              <a:t> </a:t>
            </a:r>
            <a:r>
              <a:rPr lang="en-US" dirty="0" err="1"/>
              <a:t>nợ</a:t>
            </a:r>
            <a:r>
              <a:rPr lang="en-US" dirty="0"/>
              <a:t> </a:t>
            </a:r>
            <a:r>
              <a:rPr lang="en-US" dirty="0" err="1"/>
              <a:t>xấu</a:t>
            </a:r>
            <a:r>
              <a:rPr lang="en-US" dirty="0"/>
              <a:t> </a:t>
            </a:r>
            <a:r>
              <a:rPr lang="en-US" dirty="0" err="1"/>
              <a:t>ngày</a:t>
            </a:r>
            <a:r>
              <a:rPr lang="en-US" dirty="0"/>
              <a:t> </a:t>
            </a:r>
            <a:r>
              <a:rPr lang="en-US" dirty="0" err="1"/>
              <a:t>càng</a:t>
            </a:r>
            <a:r>
              <a:rPr lang="en-US" dirty="0"/>
              <a:t> </a:t>
            </a:r>
            <a:r>
              <a:rPr lang="en-US" dirty="0" err="1"/>
              <a:t>tăng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D3E8D1-5ADE-B901-F8AA-A349F6E4AB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2405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481B1-4CFF-F2A6-E8F2-64CF9E588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DF6F06-AEB8-C9C3-3AA7-69FB454695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8189B4-F06C-68E3-1149-B11545C38C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85C9EB-90B8-9058-57A3-DE613E39E4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1698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C031E-2BD4-FDC4-872D-59FA52501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4EE57F-2158-6183-A480-32A2BFF7F6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9E98D3-7BF4-ADB8-6D09-7F32A1CD22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E1184D-DDFF-0685-27B3-8B1E03AEF6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1582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AFA46-BB63-ECFF-F0C0-78C2A21D0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10A6A8-F60E-AC63-3A1F-42168A7E52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15A61A-7AE7-43A5-B20F-EF4334ABE0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9801DC-675A-6888-9495-3461598F8A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7441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D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9E2B3F">
              <a:alpha val="60000"/>
            </a:srgbClr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0789920" y="4389120"/>
            <a:ext cx="3108960" cy="3108960"/>
          </a:xfrm>
          <a:prstGeom prst="ellipse">
            <a:avLst/>
          </a:prstGeom>
          <a:solidFill>
            <a:srgbClr val="C56B78">
              <a:alpha val="45000"/>
            </a:srgbClr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4008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6583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56B7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NGHIÊN CỨU ĐỀ ÁN · PHÂN TÍCH DỮ LIỆU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85800" y="3026664"/>
            <a:ext cx="10076688" cy="17282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Ứng dụng Random Forest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30000"/>
              </a:lnSpc>
              <a:buNone/>
            </a:pPr>
            <a:r>
              <a:rPr lang="en-US" sz="3200" b="1" dirty="0" err="1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Nghiên</a:t>
            </a: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 cứu hành vi – tâm lý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30000"/>
              </a:lnSpc>
              <a:buNone/>
            </a:pPr>
            <a:r>
              <a:rPr lang="en-US" sz="3200" b="1" dirty="0" err="1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để</a:t>
            </a: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 dự đoán tỷ lệ vỡ nợ tín dụng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85800" y="5071874"/>
            <a:ext cx="6035040" cy="1127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Giảng</a:t>
            </a:r>
            <a:r>
              <a:rPr 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600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viên</a:t>
            </a:r>
            <a:r>
              <a:rPr 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600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hướng</a:t>
            </a:r>
            <a:r>
              <a:rPr 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600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dẫn</a:t>
            </a:r>
            <a:r>
              <a:rPr 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:  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PSG. TS Nguyễn </a:t>
            </a:r>
            <a:r>
              <a:rPr lang="en-US" sz="1600" b="1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Đình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Thuân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          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Học </a:t>
            </a:r>
            <a:r>
              <a:rPr lang="en-US" sz="1600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viên</a:t>
            </a:r>
            <a:r>
              <a:rPr 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600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thực</a:t>
            </a:r>
            <a:r>
              <a:rPr 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600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hiện</a:t>
            </a:r>
            <a:r>
              <a:rPr 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; 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250104001 – </a:t>
            </a:r>
            <a:r>
              <a:rPr lang="en-US" sz="1600" b="1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Trần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Thái </a:t>
            </a:r>
            <a:r>
              <a:rPr lang="en-US" sz="1600" b="1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Ân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87A0115-3010-CFEC-F942-26B4DD84AFAD}"/>
              </a:ext>
            </a:extLst>
          </p:cNvPr>
          <p:cNvSpPr/>
          <p:nvPr/>
        </p:nvSpPr>
        <p:spPr>
          <a:xfrm>
            <a:off x="685800" y="1549908"/>
            <a:ext cx="1007668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Chuyên </a:t>
            </a:r>
            <a:r>
              <a:rPr lang="en-US" sz="3900" b="1" dirty="0" err="1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đề</a:t>
            </a:r>
            <a:r>
              <a:rPr lang="en-US" sz="39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 </a:t>
            </a:r>
            <a:r>
              <a:rPr lang="en-US" sz="3900" b="1" dirty="0" err="1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nghiên</a:t>
            </a:r>
            <a:r>
              <a:rPr lang="en-US" sz="39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 </a:t>
            </a:r>
            <a:r>
              <a:rPr lang="en-US" sz="3900" b="1" dirty="0" err="1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cứu</a:t>
            </a:r>
            <a:r>
              <a:rPr lang="en-US" sz="39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 </a:t>
            </a:r>
            <a:r>
              <a:rPr lang="en-US" sz="3900" b="1" dirty="0" err="1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về</a:t>
            </a:r>
            <a:r>
              <a:rPr lang="en-US" sz="39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 </a:t>
            </a:r>
          </a:p>
          <a:p>
            <a:pPr marL="0" indent="0">
              <a:lnSpc>
                <a:spcPct val="102000"/>
              </a:lnSpc>
              <a:buNone/>
            </a:pPr>
            <a:r>
              <a:rPr lang="en-US" sz="3900" b="1" dirty="0" err="1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Phân</a:t>
            </a:r>
            <a:r>
              <a:rPr lang="en-US" sz="39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 </a:t>
            </a:r>
            <a:r>
              <a:rPr lang="en-US" sz="3900" b="1" dirty="0" err="1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tích</a:t>
            </a:r>
            <a:r>
              <a:rPr lang="en-US" sz="39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 </a:t>
            </a:r>
            <a:r>
              <a:rPr lang="en-US" sz="3900" b="1" dirty="0" err="1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dữ</a:t>
            </a:r>
            <a:r>
              <a:rPr lang="en-US" sz="39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 </a:t>
            </a:r>
            <a:r>
              <a:rPr lang="en-US" sz="3900" b="1" dirty="0" err="1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liệu</a:t>
            </a:r>
            <a:endParaRPr lang="en-US" sz="3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1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9E2B3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PHẦN 01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1418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Bối cảnh &amp; Lý do chọn đề tài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914400" y="2011680"/>
            <a:ext cx="777240" cy="777240"/>
          </a:xfrm>
          <a:prstGeom prst="ellipse">
            <a:avLst/>
          </a:prstGeom>
          <a:solidFill>
            <a:srgbClr val="F7F1F0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19456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2017776"/>
            <a:ext cx="38481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6D1B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Rủi</a:t>
            </a:r>
            <a:r>
              <a:rPr lang="en-US" sz="2400" b="1" dirty="0">
                <a:solidFill>
                  <a:srgbClr val="6D1B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6D1B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ro</a:t>
            </a:r>
            <a:r>
              <a:rPr lang="en-US" sz="2400" b="1" dirty="0">
                <a:solidFill>
                  <a:srgbClr val="6D1B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6D1B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tín</a:t>
            </a:r>
            <a:r>
              <a:rPr lang="en-US" sz="2400" b="1" dirty="0">
                <a:solidFill>
                  <a:srgbClr val="6D1B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6D1B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dụng</a:t>
            </a:r>
            <a:r>
              <a:rPr lang="en-US" sz="2400" b="1" dirty="0">
                <a:solidFill>
                  <a:srgbClr val="6D1B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6D1B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tại</a:t>
            </a:r>
            <a:r>
              <a:rPr lang="en-US" sz="2400" b="1" dirty="0">
                <a:solidFill>
                  <a:srgbClr val="6D1B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6D1B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doanh</a:t>
            </a:r>
            <a:r>
              <a:rPr lang="en-US" sz="2400" b="1" dirty="0">
                <a:solidFill>
                  <a:srgbClr val="6D1B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6D1B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nghiệp</a:t>
            </a:r>
            <a:r>
              <a:rPr lang="en-US" sz="2400" b="1" dirty="0">
                <a:solidFill>
                  <a:srgbClr val="6D1B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6D1B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tăng</a:t>
            </a:r>
            <a:r>
              <a:rPr lang="en-US" sz="2400" b="1" dirty="0">
                <a:solidFill>
                  <a:srgbClr val="6D1B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6D1B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cao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965960" y="2827020"/>
            <a:ext cx="3764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Nợ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xấu và vỡ nợ thẻ tín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dụng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làm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gia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tăng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biến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động kinh tế, gây áp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lực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lớn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cho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các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tổ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chức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tin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dụng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/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ngân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hàng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355080" y="182880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629400" y="2011680"/>
            <a:ext cx="777240" cy="777240"/>
          </a:xfrm>
          <a:prstGeom prst="ellipse">
            <a:avLst/>
          </a:prstGeom>
          <a:solidFill>
            <a:srgbClr val="F7F1F0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219456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80960" y="2017776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D1B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Điểm tín dụng truyền thống hạn chế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7680960" y="2743200"/>
            <a:ext cx="387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Chỉ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dựa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trên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thu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nhập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,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tài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sản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mà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bỏ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qua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diễn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biến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hành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vi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trả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nợ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theo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thời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gian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của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khách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hàng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640080" y="420624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960120" y="4471416"/>
            <a:ext cx="777240" cy="777240"/>
          </a:xfrm>
          <a:prstGeom prst="ellipse">
            <a:avLst/>
          </a:prstGeom>
          <a:solidFill>
            <a:srgbClr val="F7F1F0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4654296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65960" y="4416552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D1B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Yếu tố hành vi – tâm lý bị bỏ sót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1965960" y="5120640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Cách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khách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hàng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trì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hoãn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trả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nợ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phản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ánh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thói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quen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và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tâm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lý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tài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chính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,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rất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giá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trị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cho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dự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báo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6355080" y="420624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hape 15"/>
          <p:cNvSpPr/>
          <p:nvPr/>
        </p:nvSpPr>
        <p:spPr>
          <a:xfrm>
            <a:off x="6629400" y="4395216"/>
            <a:ext cx="777240" cy="777240"/>
          </a:xfrm>
          <a:prstGeom prst="ellipse">
            <a:avLst/>
          </a:prstGeom>
          <a:solidFill>
            <a:srgbClr val="F7F1F0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2280" y="4578096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80960" y="4334256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6D1B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Sử</a:t>
            </a:r>
            <a:r>
              <a:rPr lang="en-US" sz="2400" b="1" dirty="0">
                <a:solidFill>
                  <a:srgbClr val="6D1B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6D1B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dụng</a:t>
            </a:r>
            <a:r>
              <a:rPr lang="en-US" sz="2400" b="1" dirty="0">
                <a:solidFill>
                  <a:srgbClr val="6D1B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Random Forest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7680960" y="5056632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Xử lý tốt dữ liệu phi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tuyến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tính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, nhiều biến, ít overfitting và cho biết mức độ quan trọng của từng biến.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6E7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1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9E2B3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PHẦN 02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606351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1418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Bộ dữ liệu &amp; Tiền xử lý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120640" cy="4297680"/>
          </a:xfrm>
          <a:prstGeom prst="roundRect">
            <a:avLst>
              <a:gd name="adj" fmla="val 1915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0574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20574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D1B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Bộ dữ liệu UCI Credit Card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914400" y="3217652"/>
            <a:ext cx="4617720" cy="21315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Nguồn: uciml/default-of-credit-card-clients (Kaggle).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Tệp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dữ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liệu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: 30.000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khách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hàng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sử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dụng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thẻ tín dụng.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Biến mục tiêu DEFAULT: 0 = không vỡ nợ, 1 = vỡ nợ.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Nhóm biến chính: </a:t>
            </a:r>
          </a:p>
          <a:p>
            <a:pPr marL="800100" lvl="1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PAY_0–PAY_6 :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Lịch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sử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trả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nợ</a:t>
            </a:r>
            <a:endParaRPr lang="en-US" sz="1400" dirty="0">
              <a:solidFill>
                <a:srgbClr val="2B1418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  <a:p>
            <a:pPr marL="800100" lvl="1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LIMIT_BAL      :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Hạn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mức</a:t>
            </a:r>
            <a:endParaRPr lang="en-US" sz="1400" dirty="0">
              <a:solidFill>
                <a:srgbClr val="2B1418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  <a:p>
            <a:pPr marL="800100" lvl="1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BILL_AMT       :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Số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tiền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cần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thanh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toán</a:t>
            </a:r>
            <a:endParaRPr lang="en-US" sz="1400" dirty="0">
              <a:solidFill>
                <a:srgbClr val="2B1418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  <a:p>
            <a:pPr marL="800100" lvl="1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PAY_AMT        :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Số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tiền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thanh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toán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6035040" y="1783080"/>
            <a:ext cx="5486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291072" y="2002536"/>
            <a:ext cx="530352" cy="530352"/>
          </a:xfrm>
          <a:prstGeom prst="ellipse">
            <a:avLst/>
          </a:prstGeom>
          <a:solidFill>
            <a:srgbClr val="6D1B2E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291072" y="200253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1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6035040" y="2898648"/>
            <a:ext cx="5486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6291072" y="3118104"/>
            <a:ext cx="530352" cy="530352"/>
          </a:xfrm>
          <a:prstGeom prst="ellipse">
            <a:avLst/>
          </a:prstGeom>
          <a:solidFill>
            <a:srgbClr val="6D1B2E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291072" y="311810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2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995160" y="1895353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D1B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Chuẩn </a:t>
            </a:r>
            <a:r>
              <a:rPr lang="en-US" sz="1600" b="1" dirty="0" err="1">
                <a:solidFill>
                  <a:srgbClr val="6D1B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hóa</a:t>
            </a:r>
            <a:r>
              <a:rPr lang="en-US" sz="1600" b="1" dirty="0">
                <a:solidFill>
                  <a:srgbClr val="6D1B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600" b="1" dirty="0" err="1">
                <a:solidFill>
                  <a:srgbClr val="6D1B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giá</a:t>
            </a:r>
            <a:r>
              <a:rPr lang="en-US" sz="1600" b="1" dirty="0">
                <a:solidFill>
                  <a:srgbClr val="6D1B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600" b="1" dirty="0" err="1">
                <a:solidFill>
                  <a:srgbClr val="6D1B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trị</a:t>
            </a:r>
            <a:r>
              <a:rPr lang="en-US" sz="1600" b="1" dirty="0">
                <a:solidFill>
                  <a:srgbClr val="6D1B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PAY_0 - PAY_6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995160" y="2242825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Các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giá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trị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“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âm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” / &lt;0 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sẽ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được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coi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là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trả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đúng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hạn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6995160" y="298124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D1B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Chia Train / Test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6995160" y="332871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70% huấn luyện – 30% kiểm tra (random_state=42).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6E7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3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1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9E2B3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PHẦN 03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B1418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Áp dụng Random Forest vào biến PAY_0 – PAY_6</a:t>
            </a:r>
            <a:endParaRPr lang="en-US" sz="2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4937760" cy="4297680"/>
          </a:xfrm>
          <a:prstGeom prst="roundRect">
            <a:avLst>
              <a:gd name="adj" fmla="val 1915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0574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20574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6D1B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Biến PAY_0 → PAY_6 là gì?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914399" y="2697480"/>
            <a:ext cx="4364967" cy="2459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Lịch sử trạng thái trả nợ 6 tháng gần nhất của khách hàng.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Giá trị 0: trả đúng hạn (sau khi chuẩn hóa).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Giá trị dương (1, 2, …): số tháng chậm trả tăng dần.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Chuỗi PAY thể hiện xu hướng hành vi: cải thiện, ổn định hay xấu đi.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852160" y="1783080"/>
            <a:ext cx="56692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108192" y="2002536"/>
            <a:ext cx="530352" cy="530352"/>
          </a:xfrm>
          <a:prstGeom prst="ellipse">
            <a:avLst/>
          </a:prstGeom>
          <a:solidFill>
            <a:srgbClr val="6D1B2E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108192" y="200253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1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812280" y="192938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6D1B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Cấu hình mô hình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812280" y="2276856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Classifier: n_estimators=100, max_depth=8.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5852160" y="2907792"/>
            <a:ext cx="56692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6108192" y="3127248"/>
            <a:ext cx="530352" cy="530352"/>
          </a:xfrm>
          <a:prstGeom prst="ellipse">
            <a:avLst/>
          </a:prstGeom>
          <a:solidFill>
            <a:srgbClr val="6D1B2E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108192" y="31272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2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812280" y="305409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 err="1">
                <a:solidFill>
                  <a:srgbClr val="6D1B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Huấn</a:t>
            </a:r>
            <a:r>
              <a:rPr lang="en-US" b="1" dirty="0">
                <a:solidFill>
                  <a:srgbClr val="6D1B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srgbClr val="6D1B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luyện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812280" y="3401568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Huấn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luyện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trên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100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cây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trên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tập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21000 record</a:t>
            </a:r>
          </a:p>
        </p:txBody>
      </p:sp>
      <p:sp>
        <p:nvSpPr>
          <p:cNvPr id="18" name="Shape 15"/>
          <p:cNvSpPr/>
          <p:nvPr/>
        </p:nvSpPr>
        <p:spPr>
          <a:xfrm>
            <a:off x="5852160" y="4032504"/>
            <a:ext cx="56692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6108192" y="4251960"/>
            <a:ext cx="530352" cy="530352"/>
          </a:xfrm>
          <a:prstGeom prst="ellipse">
            <a:avLst/>
          </a:prstGeom>
          <a:solidFill>
            <a:srgbClr val="6D1B2E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6108192" y="425196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3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6812280" y="417880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 err="1">
                <a:solidFill>
                  <a:srgbClr val="6D1B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Dự</a:t>
            </a:r>
            <a:r>
              <a:rPr lang="en-US" b="1" dirty="0">
                <a:solidFill>
                  <a:srgbClr val="6D1B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srgbClr val="6D1B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đoán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6812280" y="452628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So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sánh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với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9000 record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còn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lại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để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đối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chiếu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kết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quả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5852160" y="5129784"/>
            <a:ext cx="56692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6108192" y="5376672"/>
            <a:ext cx="530352" cy="530352"/>
          </a:xfrm>
          <a:prstGeom prst="ellipse">
            <a:avLst/>
          </a:prstGeom>
          <a:solidFill>
            <a:srgbClr val="6D1B2E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6108192" y="53766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4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6812280" y="524865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6D1B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Giải thích bằng Feature Importance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6812280" y="5650992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Đánh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giá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kết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quả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sử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dụng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biến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PAY (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Hành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vi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trả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nợ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)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của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khách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hàng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6E7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4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1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9E2B3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PHẦN 04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1418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Kết quả mô hình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8490690" y="1600200"/>
            <a:ext cx="3520440" cy="4671803"/>
          </a:xfrm>
          <a:prstGeom prst="roundRect">
            <a:avLst>
              <a:gd name="adj" fmla="val 5926"/>
            </a:avLst>
          </a:prstGeom>
          <a:solidFill>
            <a:srgbClr val="6D1B2E"/>
          </a:solidFill>
          <a:ln/>
          <a:effectLst>
            <a:outerShdw blurRad="88900" dist="381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8673570" y="1764793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PAY_0</a:t>
            </a:r>
            <a:endParaRPr lang="en-US" sz="3000" dirty="0">
              <a:solidFill>
                <a:schemeClr val="accent4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8673570" y="2478026"/>
            <a:ext cx="3154680" cy="3267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Sau </a:t>
            </a:r>
            <a:r>
              <a:rPr lang="en-US" sz="1600" dirty="0" err="1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khi</a:t>
            </a:r>
            <a:r>
              <a:rPr lang="en-US" sz="1600" dirty="0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100 </a:t>
            </a:r>
            <a:r>
              <a:rPr lang="en-US" sz="1600" dirty="0" err="1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cây</a:t>
            </a:r>
            <a:r>
              <a:rPr lang="en-US" sz="1600" dirty="0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để</a:t>
            </a:r>
            <a:r>
              <a:rPr lang="en-US" sz="1600" dirty="0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đưa</a:t>
            </a:r>
            <a:r>
              <a:rPr lang="en-US" sz="1600" dirty="0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ra</a:t>
            </a:r>
            <a:r>
              <a:rPr lang="en-US" sz="1600" dirty="0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quyết</a:t>
            </a:r>
            <a:r>
              <a:rPr lang="en-US" sz="1600" dirty="0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định</a:t>
            </a:r>
            <a:endParaRPr lang="en-US" sz="1600" dirty="0">
              <a:solidFill>
                <a:srgbClr val="F0DDE0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PAY_0 </a:t>
            </a:r>
            <a:r>
              <a:rPr lang="en-US" sz="1600" dirty="0" err="1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có</a:t>
            </a:r>
            <a:r>
              <a:rPr lang="en-US" sz="1600" dirty="0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mức</a:t>
            </a:r>
            <a:r>
              <a:rPr lang="en-US" sz="1600" dirty="0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độ</a:t>
            </a:r>
            <a:r>
              <a:rPr lang="en-US" sz="1600" dirty="0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quạn</a:t>
            </a:r>
            <a:r>
              <a:rPr lang="en-US" sz="1600" dirty="0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trong</a:t>
            </a:r>
            <a:r>
              <a:rPr lang="en-US" sz="1600" dirty="0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cao</a:t>
            </a:r>
            <a:r>
              <a:rPr lang="en-US" sz="1600" dirty="0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, </a:t>
            </a:r>
            <a:r>
              <a:rPr lang="en-US" sz="1600" dirty="0" err="1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nên</a:t>
            </a:r>
            <a:r>
              <a:rPr lang="en-US" sz="1600" dirty="0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sẽ</a:t>
            </a:r>
            <a:r>
              <a:rPr lang="en-US" sz="1600" dirty="0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được</a:t>
            </a:r>
            <a:r>
              <a:rPr lang="en-US" sz="1600" dirty="0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sử</a:t>
            </a:r>
            <a:r>
              <a:rPr lang="en-US" sz="1600" dirty="0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dụng</a:t>
            </a:r>
            <a:r>
              <a:rPr lang="en-US" sz="1600" dirty="0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làm</a:t>
            </a:r>
            <a:r>
              <a:rPr lang="en-US" sz="1600" dirty="0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điểm</a:t>
            </a:r>
            <a:r>
              <a:rPr lang="en-US" sz="1600" dirty="0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xác</a:t>
            </a:r>
            <a:r>
              <a:rPr lang="en-US" sz="1600" dirty="0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định</a:t>
            </a:r>
            <a:r>
              <a:rPr lang="en-US" sz="1600" dirty="0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điểm</a:t>
            </a:r>
            <a:r>
              <a:rPr lang="en-US" sz="1600" dirty="0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gây</a:t>
            </a:r>
            <a:r>
              <a:rPr lang="en-US" sz="1600" dirty="0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rủi</a:t>
            </a:r>
            <a:r>
              <a:rPr lang="en-US" sz="1600" dirty="0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 err="1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Đối</a:t>
            </a:r>
            <a:r>
              <a:rPr lang="en-US" sz="1600" dirty="0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chiếu</a:t>
            </a:r>
            <a:r>
              <a:rPr lang="en-US" sz="1600" dirty="0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với</a:t>
            </a:r>
            <a:r>
              <a:rPr lang="en-US" sz="1600" dirty="0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thực</a:t>
            </a:r>
            <a:r>
              <a:rPr lang="en-US" sz="1600" dirty="0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tế</a:t>
            </a:r>
            <a:r>
              <a:rPr lang="en-US" sz="1600" dirty="0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, </a:t>
            </a:r>
            <a:r>
              <a:rPr lang="en-US" sz="1600" dirty="0" err="1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tháng</a:t>
            </a:r>
            <a:r>
              <a:rPr lang="en-US" sz="1600" dirty="0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đầu</a:t>
            </a:r>
            <a:r>
              <a:rPr lang="en-US" sz="1600" dirty="0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tiên</a:t>
            </a:r>
            <a:r>
              <a:rPr lang="en-US" sz="1600" dirty="0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trong</a:t>
            </a:r>
            <a:r>
              <a:rPr lang="en-US" sz="1600" dirty="0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chu </a:t>
            </a:r>
            <a:r>
              <a:rPr lang="en-US" sz="1600" dirty="0" err="1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kỳ</a:t>
            </a:r>
            <a:r>
              <a:rPr lang="en-US" sz="1600" dirty="0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thanh</a:t>
            </a:r>
            <a:r>
              <a:rPr lang="en-US" sz="1600" dirty="0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toán</a:t>
            </a:r>
            <a:r>
              <a:rPr lang="en-US" sz="1600" dirty="0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tín</a:t>
            </a:r>
            <a:r>
              <a:rPr lang="en-US" sz="1600" dirty="0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dụng</a:t>
            </a:r>
            <a:r>
              <a:rPr lang="en-US" sz="1600" dirty="0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cũng</a:t>
            </a:r>
            <a:r>
              <a:rPr lang="en-US" sz="1600" dirty="0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sẽ</a:t>
            </a:r>
            <a:r>
              <a:rPr lang="en-US" sz="1600" dirty="0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phản</a:t>
            </a:r>
            <a:r>
              <a:rPr lang="en-US" sz="1600" dirty="0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ánh</a:t>
            </a:r>
            <a:r>
              <a:rPr lang="en-US" sz="1600" dirty="0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tâm</a:t>
            </a:r>
            <a:r>
              <a:rPr lang="en-US" sz="1600" dirty="0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lý</a:t>
            </a:r>
            <a:r>
              <a:rPr lang="en-US" sz="1600" dirty="0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của</a:t>
            </a:r>
            <a:r>
              <a:rPr lang="en-US" sz="1600" dirty="0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khách</a:t>
            </a:r>
            <a:r>
              <a:rPr lang="en-US" sz="1600" dirty="0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hàng</a:t>
            </a:r>
            <a:r>
              <a:rPr lang="en-US" sz="1600" dirty="0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trong</a:t>
            </a:r>
            <a:r>
              <a:rPr lang="en-US" sz="1600" dirty="0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các</a:t>
            </a:r>
            <a:r>
              <a:rPr lang="en-US" sz="1600" dirty="0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chu </a:t>
            </a:r>
            <a:r>
              <a:rPr lang="en-US" sz="1600" dirty="0" err="1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kỳ</a:t>
            </a:r>
            <a:r>
              <a:rPr lang="en-US" sz="1600" dirty="0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tín</a:t>
            </a:r>
            <a:r>
              <a:rPr lang="en-US" sz="1600" dirty="0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dụng</a:t>
            </a:r>
            <a:r>
              <a:rPr lang="en-US" sz="1600" dirty="0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ở </a:t>
            </a:r>
            <a:r>
              <a:rPr lang="en-US" sz="1600" dirty="0" err="1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tương</a:t>
            </a:r>
            <a:r>
              <a:rPr lang="en-US" sz="1600" dirty="0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lai </a:t>
            </a:r>
          </a:p>
        </p:txBody>
      </p:sp>
      <p:sp>
        <p:nvSpPr>
          <p:cNvPr id="19" name="Text 15"/>
          <p:cNvSpPr/>
          <p:nvPr/>
        </p:nvSpPr>
        <p:spPr>
          <a:xfrm>
            <a:off x="11268222" y="63366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6E7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5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9AE4B04-A35E-9D54-9155-C7A6C1AF52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400" y="1645920"/>
            <a:ext cx="7863672" cy="467122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1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9209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9E2B3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PHẦN 05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1418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Phân tích sâu hành vi – tâm lý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EFE9175-31A2-B72E-BD3E-39B228F6ED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218" y="1366072"/>
            <a:ext cx="6672771" cy="5017645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581967" y="1322866"/>
            <a:ext cx="4254991" cy="5032214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7917582" y="1495070"/>
            <a:ext cx="731520" cy="731520"/>
          </a:xfrm>
          <a:prstGeom prst="ellipse">
            <a:avLst/>
          </a:prstGeom>
          <a:solidFill>
            <a:srgbClr val="F7F1F0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0462" y="167795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917582" y="2398793"/>
            <a:ext cx="3695298" cy="897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6D1B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Điểm gãy tâm lý ở mốc trễ 2 tháng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7890711" y="3429000"/>
            <a:ext cx="3749040" cy="1521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Khi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trễ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hạn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từ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2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tháng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trở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lên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,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tỷ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lệ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vỡ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nợ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tăng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vọt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trên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50% (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có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chu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kỳ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tới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70–80%),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phản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ánh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tâm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lý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trì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hoãn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và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mất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kiểm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soát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tài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chính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tích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tụ</a:t>
            </a:r>
            <a:r>
              <a:rPr lang="en-US" sz="14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5">
            <a:extLst>
              <a:ext uri="{FF2B5EF4-FFF2-40B4-BE49-F238E27FC236}">
                <a16:creationId xmlns:a16="http://schemas.microsoft.com/office/drawing/2014/main" id="{1F32333D-39D5-6F2A-EEBF-D49DADE9072A}"/>
              </a:ext>
            </a:extLst>
          </p:cNvPr>
          <p:cNvSpPr/>
          <p:nvPr/>
        </p:nvSpPr>
        <p:spPr>
          <a:xfrm>
            <a:off x="11379758" y="6477043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6E7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6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14CDF8-CEB2-2EC3-D9F9-E82A052BE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DB0AC06-3D6A-59C6-1A09-418E89E95850}"/>
              </a:ext>
            </a:extLst>
          </p:cNvPr>
          <p:cNvSpPr/>
          <p:nvPr/>
        </p:nvSpPr>
        <p:spPr>
          <a:xfrm>
            <a:off x="640080" y="199209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9E2B3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PHẦN 05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B9284FA-CFBA-F846-F86A-FA6A0710D262}"/>
              </a:ext>
            </a:extLst>
          </p:cNvPr>
          <p:cNvSpPr/>
          <p:nvPr/>
        </p:nvSpPr>
        <p:spPr>
          <a:xfrm>
            <a:off x="640080" y="489606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1418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Phân tích sâu hành vi – tâm lý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C5EA9F-5E5F-065A-012A-7EE035C141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7829" y="1322866"/>
            <a:ext cx="9196341" cy="5073844"/>
          </a:xfrm>
          <a:prstGeom prst="rect">
            <a:avLst/>
          </a:prstGeom>
        </p:spPr>
      </p:pic>
      <p:sp>
        <p:nvSpPr>
          <p:cNvPr id="4" name="Text 15">
            <a:extLst>
              <a:ext uri="{FF2B5EF4-FFF2-40B4-BE49-F238E27FC236}">
                <a16:creationId xmlns:a16="http://schemas.microsoft.com/office/drawing/2014/main" id="{F521E650-6560-83A5-9059-04A7E6BCA3CE}"/>
              </a:ext>
            </a:extLst>
          </p:cNvPr>
          <p:cNvSpPr/>
          <p:nvPr/>
        </p:nvSpPr>
        <p:spPr>
          <a:xfrm>
            <a:off x="11384280" y="64738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6E7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7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36025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E4266A-FCF1-960D-FD9D-5E458CF9A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6580A29-C7A4-0FD2-62BF-E5FE43A2F9F7}"/>
              </a:ext>
            </a:extLst>
          </p:cNvPr>
          <p:cNvSpPr/>
          <p:nvPr/>
        </p:nvSpPr>
        <p:spPr>
          <a:xfrm>
            <a:off x="640080" y="199209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9E2B3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PHẦN 05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35B2187-CE55-B004-9C66-8CA7FFEC634E}"/>
              </a:ext>
            </a:extLst>
          </p:cNvPr>
          <p:cNvSpPr/>
          <p:nvPr/>
        </p:nvSpPr>
        <p:spPr>
          <a:xfrm>
            <a:off x="640080" y="489606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1418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Phân tích sâu hành vi – tâm lý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DEBDE7-65E5-F696-5F72-0D2D183426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41223"/>
            <a:ext cx="9648511" cy="54614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639F441-7D19-F3DD-2B50-CAAF16A35B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8591" y="1241223"/>
            <a:ext cx="1390937" cy="1501978"/>
          </a:xfrm>
          <a:prstGeom prst="rect">
            <a:avLst/>
          </a:prstGeom>
        </p:spPr>
      </p:pic>
      <p:sp>
        <p:nvSpPr>
          <p:cNvPr id="4" name="Text 15">
            <a:extLst>
              <a:ext uri="{FF2B5EF4-FFF2-40B4-BE49-F238E27FC236}">
                <a16:creationId xmlns:a16="http://schemas.microsoft.com/office/drawing/2014/main" id="{34F02317-8FF8-98BD-F6F6-1D27BBF1668F}"/>
              </a:ext>
            </a:extLst>
          </p:cNvPr>
          <p:cNvSpPr/>
          <p:nvPr/>
        </p:nvSpPr>
        <p:spPr>
          <a:xfrm>
            <a:off x="11384280" y="64738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6E7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8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60849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6D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754880"/>
            <a:ext cx="3840480" cy="3840480"/>
          </a:xfrm>
          <a:prstGeom prst="ellipse">
            <a:avLst/>
          </a:prstGeom>
          <a:solidFill>
            <a:srgbClr val="9E2B3F">
              <a:alpha val="55000"/>
            </a:srgbClr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6692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57607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56B7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PHẦN 06 · KẾT LUẬN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48640" y="10972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Kết</a:t>
            </a:r>
            <a:r>
              <a:rPr lang="en-US" sz="28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quả</a:t>
            </a:r>
            <a:r>
              <a:rPr lang="en-US" sz="28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 - </a:t>
            </a:r>
            <a:r>
              <a:rPr lang="en-US" sz="2800" b="1" dirty="0" err="1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Đề</a:t>
            </a:r>
            <a:r>
              <a:rPr lang="en-US" sz="28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xuất</a:t>
            </a:r>
            <a:r>
              <a:rPr lang="en-US" sz="28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phòng</a:t>
            </a:r>
            <a:r>
              <a:rPr lang="en-US" sz="28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chống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70561" y="198196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Kết luận chính</a:t>
            </a:r>
            <a:endParaRPr lang="en-US" sz="2400" dirty="0">
              <a:solidFill>
                <a:schemeClr val="accent4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40080" y="2432304"/>
            <a:ext cx="5212080" cy="412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Random Forest đạt độ chính xác 82,1% trong dự đoán vỡ nợ.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PAY_0, PAY_2 </a:t>
            </a:r>
            <a:r>
              <a:rPr lang="en-US" sz="2400" dirty="0" err="1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là</a:t>
            </a:r>
            <a:r>
              <a:rPr lang="en-US" sz="2400" dirty="0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các biến quan trọng </a:t>
            </a:r>
            <a:r>
              <a:rPr lang="en-US" sz="2400" dirty="0" err="1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nhất</a:t>
            </a:r>
            <a:r>
              <a:rPr lang="en-US" sz="2400" dirty="0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trong</a:t>
            </a:r>
            <a:r>
              <a:rPr lang="en-US" sz="2400" dirty="0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phân</a:t>
            </a:r>
            <a:r>
              <a:rPr lang="en-US" sz="2400" dirty="0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tích</a:t>
            </a:r>
            <a:r>
              <a:rPr lang="en-US" sz="2400" dirty="0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hành</a:t>
            </a:r>
            <a:r>
              <a:rPr lang="en-US" sz="2400" dirty="0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vi </a:t>
            </a:r>
            <a:r>
              <a:rPr lang="en-US" sz="2400" dirty="0" err="1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tâm</a:t>
            </a:r>
            <a:r>
              <a:rPr lang="en-US" sz="2400" dirty="0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lý</a:t>
            </a:r>
            <a:r>
              <a:rPr lang="en-US" sz="2400" dirty="0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vỡ</a:t>
            </a:r>
            <a:r>
              <a:rPr lang="en-US" sz="2400" dirty="0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nợ</a:t>
            </a:r>
            <a:r>
              <a:rPr lang="en-US" sz="2400" dirty="0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của</a:t>
            </a:r>
            <a:r>
              <a:rPr lang="en-US" sz="2400" dirty="0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khách</a:t>
            </a:r>
            <a:r>
              <a:rPr lang="en-US" sz="2400" dirty="0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hang</a:t>
            </a: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400" dirty="0" err="1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Trễ</a:t>
            </a:r>
            <a:r>
              <a:rPr lang="en-US" sz="2400" dirty="0">
                <a:solidFill>
                  <a:srgbClr val="F0DDE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hạn kéo dài phản ánh tâm lý mất kiểm soát chi tiêu, là chỉ báo tin cậy hơn thu nhập đơn thuần.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309360" y="19888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Biện</a:t>
            </a:r>
            <a:r>
              <a:rPr lang="en-US" sz="24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pháp</a:t>
            </a:r>
            <a:r>
              <a:rPr lang="en-US" sz="24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phòng</a:t>
            </a:r>
            <a:r>
              <a:rPr lang="en-US" sz="24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chống</a:t>
            </a:r>
            <a:r>
              <a:rPr lang="en-US" sz="24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đề</a:t>
            </a:r>
            <a:r>
              <a:rPr lang="en-US" sz="24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xuất</a:t>
            </a:r>
            <a:endParaRPr lang="en-US" sz="2400" dirty="0">
              <a:solidFill>
                <a:schemeClr val="accent4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309360" y="2571369"/>
            <a:ext cx="5212080" cy="1110996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537960" y="2772537"/>
            <a:ext cx="548640" cy="548640"/>
          </a:xfrm>
          <a:prstGeom prst="ellipse">
            <a:avLst/>
          </a:prstGeom>
          <a:solidFill>
            <a:srgbClr val="F7F1F0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08" y="2927985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2635377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D1B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Cảnh báo sớm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7269480" y="3074289"/>
            <a:ext cx="4114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Gắn cờ khách hàng nguy cơ cao ngay khi PAY chạm mốc trễ 2 tháng.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6309360" y="3881628"/>
            <a:ext cx="5212080" cy="1110996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6537960" y="4082796"/>
            <a:ext cx="548640" cy="548640"/>
          </a:xfrm>
          <a:prstGeom prst="ellipse">
            <a:avLst/>
          </a:prstGeom>
          <a:solidFill>
            <a:srgbClr val="F7F1F0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3408" y="4238244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269480" y="39730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D1B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Điều chỉnh hạn mức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7269480" y="438454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Siết hạn mức và lãi suất theo mức rủi ro mô hình dự đoán.</a:t>
            </a:r>
          </a:p>
        </p:txBody>
      </p:sp>
      <p:sp>
        <p:nvSpPr>
          <p:cNvPr id="19" name="Shape 14"/>
          <p:cNvSpPr/>
          <p:nvPr/>
        </p:nvSpPr>
        <p:spPr>
          <a:xfrm>
            <a:off x="6309360" y="5148072"/>
            <a:ext cx="5212080" cy="1110996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hape 15"/>
          <p:cNvSpPr/>
          <p:nvPr/>
        </p:nvSpPr>
        <p:spPr>
          <a:xfrm>
            <a:off x="6537960" y="5349240"/>
            <a:ext cx="548640" cy="548640"/>
          </a:xfrm>
          <a:prstGeom prst="ellipse">
            <a:avLst/>
          </a:prstGeom>
          <a:solidFill>
            <a:srgbClr val="F7F1F0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3408" y="5504688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69480" y="523951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D1B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Hỗ trợ chủ động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7269480" y="565099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Tư vấn cơ cấu nợ, nhắc lịch trả trước hạn cho nhóm rủi ro.</a:t>
            </a:r>
          </a:p>
        </p:txBody>
      </p:sp>
      <p:sp>
        <p:nvSpPr>
          <p:cNvPr id="24" name="Text 18"/>
          <p:cNvSpPr/>
          <p:nvPr/>
        </p:nvSpPr>
        <p:spPr>
          <a:xfrm>
            <a:off x="11338560" y="634822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6E7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9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D1B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B5A7F5-7D66-715F-B77B-7672DEF25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BE76144-6D27-D43D-3EE0-C9AF71058114}"/>
              </a:ext>
            </a:extLst>
          </p:cNvPr>
          <p:cNvSpPr/>
          <p:nvPr/>
        </p:nvSpPr>
        <p:spPr>
          <a:xfrm>
            <a:off x="-1371600" y="4754880"/>
            <a:ext cx="3840480" cy="3840480"/>
          </a:xfrm>
          <a:prstGeom prst="ellipse">
            <a:avLst/>
          </a:prstGeom>
          <a:solidFill>
            <a:srgbClr val="9E2B3F">
              <a:alpha val="55000"/>
            </a:srgbClr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4BE5B1A8-6284-0D04-A803-A5BF4749AF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66928"/>
            <a:ext cx="457200" cy="4572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88244858-898C-F6BB-75A8-B0746879CB81}"/>
              </a:ext>
            </a:extLst>
          </p:cNvPr>
          <p:cNvSpPr/>
          <p:nvPr/>
        </p:nvSpPr>
        <p:spPr>
          <a:xfrm>
            <a:off x="1188720" y="57607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56B7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PHẦN 06 · KẾT LUẬN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3965E9D1-0431-BEEE-586D-2DF6DC56B947}"/>
              </a:ext>
            </a:extLst>
          </p:cNvPr>
          <p:cNvSpPr/>
          <p:nvPr/>
        </p:nvSpPr>
        <p:spPr>
          <a:xfrm>
            <a:off x="640080" y="10972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Tính</a:t>
            </a:r>
            <a:r>
              <a:rPr lang="en-US" sz="28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mới</a:t>
            </a:r>
            <a:r>
              <a:rPr lang="en-US" sz="28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của</a:t>
            </a:r>
            <a:r>
              <a:rPr lang="en-US" sz="28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đề</a:t>
            </a:r>
            <a:r>
              <a:rPr lang="en-US" sz="28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tài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EAE18557-13CD-91F4-A5BB-3AFAB2D887A2}"/>
              </a:ext>
            </a:extLst>
          </p:cNvPr>
          <p:cNvSpPr/>
          <p:nvPr/>
        </p:nvSpPr>
        <p:spPr>
          <a:xfrm>
            <a:off x="11338560" y="634822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6E7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10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Shape 10">
            <a:extLst>
              <a:ext uri="{FF2B5EF4-FFF2-40B4-BE49-F238E27FC236}">
                <a16:creationId xmlns:a16="http://schemas.microsoft.com/office/drawing/2014/main" id="{A321F067-9443-AC97-B05B-A6859643D89F}"/>
              </a:ext>
            </a:extLst>
          </p:cNvPr>
          <p:cNvSpPr/>
          <p:nvPr/>
        </p:nvSpPr>
        <p:spPr>
          <a:xfrm>
            <a:off x="670560" y="1993391"/>
            <a:ext cx="5257800" cy="4354831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01C7A986-187E-6DB0-CF3C-03155AC48EFB}"/>
              </a:ext>
            </a:extLst>
          </p:cNvPr>
          <p:cNvSpPr/>
          <p:nvPr/>
        </p:nvSpPr>
        <p:spPr>
          <a:xfrm>
            <a:off x="1996440" y="2022127"/>
            <a:ext cx="3703320" cy="914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6D1B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Điểm</a:t>
            </a:r>
            <a:r>
              <a:rPr lang="en-US" sz="2400" b="1" dirty="0">
                <a:solidFill>
                  <a:srgbClr val="6D1B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6D1B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gãy</a:t>
            </a:r>
            <a:r>
              <a:rPr lang="en-US" sz="2400" b="1" dirty="0">
                <a:solidFill>
                  <a:srgbClr val="6D1B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6D1B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tâm</a:t>
            </a:r>
            <a:r>
              <a:rPr lang="en-US" sz="2400" b="1" dirty="0">
                <a:solidFill>
                  <a:srgbClr val="6D1B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6D1B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lý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5BE4B895-D684-AB37-C61F-125A647B67F1}"/>
              </a:ext>
            </a:extLst>
          </p:cNvPr>
          <p:cNvSpPr/>
          <p:nvPr/>
        </p:nvSpPr>
        <p:spPr>
          <a:xfrm>
            <a:off x="1996440" y="2647335"/>
            <a:ext cx="3703320" cy="3562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7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Dựa</a:t>
            </a:r>
            <a:r>
              <a:rPr lang="en-US" sz="17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vào</a:t>
            </a:r>
            <a:r>
              <a:rPr lang="en-US" sz="17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dữ</a:t>
            </a:r>
            <a:r>
              <a:rPr lang="en-US" sz="17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liệu</a:t>
            </a:r>
            <a:r>
              <a:rPr lang="en-US" sz="17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đã</a:t>
            </a:r>
            <a:r>
              <a:rPr lang="en-US" sz="17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trực</a:t>
            </a:r>
            <a:r>
              <a:rPr lang="en-US" sz="17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quan</a:t>
            </a:r>
            <a:r>
              <a:rPr lang="en-US" sz="17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để</a:t>
            </a:r>
            <a:r>
              <a:rPr lang="en-US" sz="17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đưa</a:t>
            </a:r>
            <a:r>
              <a:rPr lang="en-US" sz="17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nghiên</a:t>
            </a:r>
            <a:r>
              <a:rPr lang="en-US" sz="17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cứu</a:t>
            </a:r>
            <a:r>
              <a:rPr lang="en-US" sz="17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hành</a:t>
            </a:r>
            <a:r>
              <a:rPr lang="en-US" sz="17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vi </a:t>
            </a:r>
            <a:r>
              <a:rPr lang="en-US" sz="17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của</a:t>
            </a:r>
            <a:r>
              <a:rPr lang="en-US" sz="17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khách</a:t>
            </a:r>
            <a:r>
              <a:rPr lang="en-US" sz="17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hang </a:t>
            </a:r>
            <a:r>
              <a:rPr lang="en-US" sz="17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khi</a:t>
            </a:r>
            <a:r>
              <a:rPr lang="en-US" sz="17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trễ</a:t>
            </a:r>
            <a:r>
              <a:rPr lang="en-US" sz="17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hạn</a:t>
            </a:r>
            <a:endParaRPr lang="en-US" sz="1700" dirty="0">
              <a:solidFill>
                <a:srgbClr val="2B1418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7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Từ</a:t>
            </a:r>
            <a:r>
              <a:rPr lang="en-US" sz="17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đó</a:t>
            </a:r>
            <a:r>
              <a:rPr lang="en-US" sz="17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đưa</a:t>
            </a:r>
            <a:r>
              <a:rPr lang="en-US" sz="17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ra</a:t>
            </a:r>
            <a:r>
              <a:rPr lang="en-US" sz="17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các</a:t>
            </a:r>
            <a:r>
              <a:rPr lang="en-US" sz="17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biện</a:t>
            </a:r>
            <a:r>
              <a:rPr lang="en-US" sz="17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pháp</a:t>
            </a:r>
            <a:r>
              <a:rPr lang="en-US" sz="17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thông</a:t>
            </a:r>
            <a:r>
              <a:rPr lang="en-US" sz="17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báo</a:t>
            </a:r>
            <a:r>
              <a:rPr lang="en-US" sz="17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cho</a:t>
            </a:r>
            <a:r>
              <a:rPr lang="en-US" sz="17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tệp</a:t>
            </a:r>
            <a:r>
              <a:rPr lang="en-US" sz="17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khách</a:t>
            </a:r>
            <a:r>
              <a:rPr lang="en-US" sz="17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hang PAY_1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Hoặc</a:t>
            </a:r>
            <a:r>
              <a:rPr lang="en-US" sz="17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có</a:t>
            </a:r>
            <a:r>
              <a:rPr lang="en-US" sz="17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những</a:t>
            </a:r>
            <a:r>
              <a:rPr lang="en-US" sz="17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biện</a:t>
            </a:r>
            <a:r>
              <a:rPr lang="en-US" sz="17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pháp</a:t>
            </a:r>
            <a:r>
              <a:rPr lang="en-US" sz="17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hỗ</a:t>
            </a:r>
            <a:r>
              <a:rPr lang="en-US" sz="17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trợ</a:t>
            </a:r>
            <a:r>
              <a:rPr lang="en-US" sz="17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cho</a:t>
            </a:r>
            <a:r>
              <a:rPr lang="en-US" sz="17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nhóm</a:t>
            </a:r>
            <a:r>
              <a:rPr lang="en-US" sz="17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PAY_2 </a:t>
            </a:r>
            <a:r>
              <a:rPr lang="en-US" sz="17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khi</a:t>
            </a:r>
            <a:r>
              <a:rPr lang="en-US" sz="17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tâm</a:t>
            </a:r>
            <a:r>
              <a:rPr lang="en-US" sz="17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lý</a:t>
            </a:r>
            <a:r>
              <a:rPr lang="en-US" sz="17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người</a:t>
            </a:r>
            <a:r>
              <a:rPr lang="en-US" sz="17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dùng</a:t>
            </a:r>
            <a:r>
              <a:rPr lang="en-US" sz="17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lo </a:t>
            </a:r>
            <a:r>
              <a:rPr lang="en-US" sz="17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lắng</a:t>
            </a:r>
            <a:r>
              <a:rPr lang="en-US" sz="17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về</a:t>
            </a:r>
            <a:r>
              <a:rPr lang="en-US" sz="17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các</a:t>
            </a:r>
            <a:r>
              <a:rPr lang="en-US" sz="17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khoản</a:t>
            </a:r>
            <a:r>
              <a:rPr lang="en-US" sz="17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lãi</a:t>
            </a:r>
            <a:r>
              <a:rPr lang="en-US" sz="17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phải</a:t>
            </a:r>
            <a:r>
              <a:rPr lang="en-US" sz="17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trả</a:t>
            </a:r>
            <a:r>
              <a:rPr lang="en-US" sz="17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quá</a:t>
            </a:r>
            <a:r>
              <a:rPr lang="en-US" sz="17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cao</a:t>
            </a:r>
            <a:r>
              <a:rPr lang="en-US" sz="17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BD7962AA-1F76-0C7C-9D94-957834834A60}"/>
              </a:ext>
            </a:extLst>
          </p:cNvPr>
          <p:cNvSpPr/>
          <p:nvPr/>
        </p:nvSpPr>
        <p:spPr>
          <a:xfrm>
            <a:off x="871026" y="2201176"/>
            <a:ext cx="823139" cy="823139"/>
          </a:xfrm>
          <a:prstGeom prst="ellipse">
            <a:avLst/>
          </a:prstGeom>
          <a:solidFill>
            <a:srgbClr val="F7F1F0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Image 2" descr="preencoded.png">
            <a:extLst>
              <a:ext uri="{FF2B5EF4-FFF2-40B4-BE49-F238E27FC236}">
                <a16:creationId xmlns:a16="http://schemas.microsoft.com/office/drawing/2014/main" id="{DB148758-2827-B73A-DF4B-2C0E74E26B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1538" y="2391688"/>
            <a:ext cx="442113" cy="442113"/>
          </a:xfrm>
          <a:prstGeom prst="rect">
            <a:avLst/>
          </a:prstGeom>
        </p:spPr>
      </p:pic>
      <p:sp>
        <p:nvSpPr>
          <p:cNvPr id="31" name="Shape 10">
            <a:extLst>
              <a:ext uri="{FF2B5EF4-FFF2-40B4-BE49-F238E27FC236}">
                <a16:creationId xmlns:a16="http://schemas.microsoft.com/office/drawing/2014/main" id="{32B3C22D-9885-C669-36C9-0C87390A3019}"/>
              </a:ext>
            </a:extLst>
          </p:cNvPr>
          <p:cNvSpPr/>
          <p:nvPr/>
        </p:nvSpPr>
        <p:spPr>
          <a:xfrm>
            <a:off x="6343650" y="1993390"/>
            <a:ext cx="5452110" cy="4354831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Shape 11">
            <a:extLst>
              <a:ext uri="{FF2B5EF4-FFF2-40B4-BE49-F238E27FC236}">
                <a16:creationId xmlns:a16="http://schemas.microsoft.com/office/drawing/2014/main" id="{0F0998A4-065F-8CB3-A4E5-3EB94107AD0F}"/>
              </a:ext>
            </a:extLst>
          </p:cNvPr>
          <p:cNvSpPr/>
          <p:nvPr/>
        </p:nvSpPr>
        <p:spPr>
          <a:xfrm>
            <a:off x="6634600" y="2203703"/>
            <a:ext cx="841771" cy="841771"/>
          </a:xfrm>
          <a:prstGeom prst="ellipse">
            <a:avLst/>
          </a:prstGeom>
          <a:solidFill>
            <a:srgbClr val="F7F1F0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3" name="Image 2" descr="preencoded.png">
            <a:extLst>
              <a:ext uri="{FF2B5EF4-FFF2-40B4-BE49-F238E27FC236}">
                <a16:creationId xmlns:a16="http://schemas.microsoft.com/office/drawing/2014/main" id="{6F6E4EB6-DD0F-323F-8C79-528E4BDBC9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7040" y="2366143"/>
            <a:ext cx="516890" cy="516890"/>
          </a:xfrm>
          <a:prstGeom prst="rect">
            <a:avLst/>
          </a:prstGeom>
        </p:spPr>
      </p:pic>
      <p:sp>
        <p:nvSpPr>
          <p:cNvPr id="34" name="Text 12">
            <a:extLst>
              <a:ext uri="{FF2B5EF4-FFF2-40B4-BE49-F238E27FC236}">
                <a16:creationId xmlns:a16="http://schemas.microsoft.com/office/drawing/2014/main" id="{9F72B7C9-3B23-DFE0-833F-F847A9E0E170}"/>
              </a:ext>
            </a:extLst>
          </p:cNvPr>
          <p:cNvSpPr/>
          <p:nvPr/>
        </p:nvSpPr>
        <p:spPr>
          <a:xfrm>
            <a:off x="7635240" y="2203703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D1B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Lý </a:t>
            </a:r>
            <a:r>
              <a:rPr lang="en-US" sz="2400" b="1" dirty="0" err="1">
                <a:solidFill>
                  <a:srgbClr val="6D1B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giải</a:t>
            </a:r>
            <a:r>
              <a:rPr lang="en-US" sz="2400" b="1" dirty="0">
                <a:solidFill>
                  <a:srgbClr val="6D1B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6D1B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nguyên</a:t>
            </a:r>
            <a:r>
              <a:rPr lang="en-US" sz="2400" b="1" dirty="0">
                <a:solidFill>
                  <a:srgbClr val="6D1B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6D1B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nhân</a:t>
            </a:r>
            <a:r>
              <a:rPr lang="en-US" sz="2400" b="1" dirty="0">
                <a:solidFill>
                  <a:srgbClr val="6D1B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6D1B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vỡ</a:t>
            </a:r>
            <a:r>
              <a:rPr lang="en-US" sz="2400" b="1" dirty="0">
                <a:solidFill>
                  <a:srgbClr val="6D1B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6D1B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nợ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 13">
            <a:extLst>
              <a:ext uri="{FF2B5EF4-FFF2-40B4-BE49-F238E27FC236}">
                <a16:creationId xmlns:a16="http://schemas.microsoft.com/office/drawing/2014/main" id="{3ED65E55-1372-C43A-55A5-DB67C3F42BD0}"/>
              </a:ext>
            </a:extLst>
          </p:cNvPr>
          <p:cNvSpPr/>
          <p:nvPr/>
        </p:nvSpPr>
        <p:spPr>
          <a:xfrm>
            <a:off x="7635240" y="2907790"/>
            <a:ext cx="3931920" cy="3302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Sử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quả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để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giải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thích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cho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nguyên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nhân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dẫn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đến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việc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thanh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toán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trễ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thể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mất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khả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năng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thanh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toán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Lý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giải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nhóm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khách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hang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hạn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mức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tín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thấp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thường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khả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năng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vỡ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nợ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cao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hơn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do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nhu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cầu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sử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tài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chính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đang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vượt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quá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so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mức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thu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nhập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tế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47862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D1B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8AEABA-7FF7-945B-E48F-4CA68B424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D9575B7-BD5C-7918-8BB0-FDE0119E7799}"/>
              </a:ext>
            </a:extLst>
          </p:cNvPr>
          <p:cNvSpPr/>
          <p:nvPr/>
        </p:nvSpPr>
        <p:spPr>
          <a:xfrm>
            <a:off x="-1371600" y="4754880"/>
            <a:ext cx="3840480" cy="3840480"/>
          </a:xfrm>
          <a:prstGeom prst="ellipse">
            <a:avLst/>
          </a:prstGeom>
          <a:solidFill>
            <a:srgbClr val="9E2B3F">
              <a:alpha val="55000"/>
            </a:srgbClr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47CBE366-BE65-7926-5F85-9CB2078232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66928"/>
            <a:ext cx="457200" cy="4572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36736565-23F5-D3DE-F567-0B3A9608D01C}"/>
              </a:ext>
            </a:extLst>
          </p:cNvPr>
          <p:cNvSpPr/>
          <p:nvPr/>
        </p:nvSpPr>
        <p:spPr>
          <a:xfrm>
            <a:off x="1188720" y="57607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56B7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PHẦN 06 · KẾT LUẬN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3DA3694B-97A3-1A42-C717-D3082C885D25}"/>
              </a:ext>
            </a:extLst>
          </p:cNvPr>
          <p:cNvSpPr/>
          <p:nvPr/>
        </p:nvSpPr>
        <p:spPr>
          <a:xfrm>
            <a:off x="640080" y="10972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Tính</a:t>
            </a:r>
            <a:r>
              <a:rPr lang="en-US" sz="28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mới</a:t>
            </a:r>
            <a:r>
              <a:rPr lang="en-US" sz="28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của</a:t>
            </a:r>
            <a:r>
              <a:rPr lang="en-US" sz="28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đề</a:t>
            </a:r>
            <a:r>
              <a:rPr lang="en-US" sz="28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tài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BE1987BC-1127-9E90-ED4F-D9625654793C}"/>
              </a:ext>
            </a:extLst>
          </p:cNvPr>
          <p:cNvSpPr/>
          <p:nvPr/>
        </p:nvSpPr>
        <p:spPr>
          <a:xfrm>
            <a:off x="11338560" y="634822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6E7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11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Shape 10">
            <a:extLst>
              <a:ext uri="{FF2B5EF4-FFF2-40B4-BE49-F238E27FC236}">
                <a16:creationId xmlns:a16="http://schemas.microsoft.com/office/drawing/2014/main" id="{C74FDFDC-F224-0D90-A9AE-BF5C9FDE1DF7}"/>
              </a:ext>
            </a:extLst>
          </p:cNvPr>
          <p:cNvSpPr/>
          <p:nvPr/>
        </p:nvSpPr>
        <p:spPr>
          <a:xfrm>
            <a:off x="670560" y="1993391"/>
            <a:ext cx="5257800" cy="4354831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09B29C0E-CB7E-C6B7-678C-B420D53D2B11}"/>
              </a:ext>
            </a:extLst>
          </p:cNvPr>
          <p:cNvSpPr/>
          <p:nvPr/>
        </p:nvSpPr>
        <p:spPr>
          <a:xfrm>
            <a:off x="1996440" y="2022127"/>
            <a:ext cx="3703320" cy="914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6D1B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Điểm</a:t>
            </a:r>
            <a:r>
              <a:rPr lang="en-US" sz="2400" b="1" dirty="0">
                <a:solidFill>
                  <a:srgbClr val="6D1B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6D1B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gãy</a:t>
            </a:r>
            <a:r>
              <a:rPr lang="en-US" sz="2400" b="1" dirty="0">
                <a:solidFill>
                  <a:srgbClr val="6D1B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6D1B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tâm</a:t>
            </a:r>
            <a:r>
              <a:rPr lang="en-US" sz="2400" b="1" dirty="0">
                <a:solidFill>
                  <a:srgbClr val="6D1B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6D1B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lý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31A626CA-0860-4F5C-6F50-1C9A093825AA}"/>
              </a:ext>
            </a:extLst>
          </p:cNvPr>
          <p:cNvSpPr/>
          <p:nvPr/>
        </p:nvSpPr>
        <p:spPr>
          <a:xfrm>
            <a:off x="1996440" y="2647335"/>
            <a:ext cx="3703320" cy="3562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7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Dựa</a:t>
            </a:r>
            <a:r>
              <a:rPr lang="en-US" sz="17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vào</a:t>
            </a:r>
            <a:r>
              <a:rPr lang="en-US" sz="17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dữ</a:t>
            </a:r>
            <a:r>
              <a:rPr lang="en-US" sz="17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liệu</a:t>
            </a:r>
            <a:r>
              <a:rPr lang="en-US" sz="17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đã</a:t>
            </a:r>
            <a:r>
              <a:rPr lang="en-US" sz="17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trực</a:t>
            </a:r>
            <a:r>
              <a:rPr lang="en-US" sz="17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quan</a:t>
            </a:r>
            <a:r>
              <a:rPr lang="en-US" sz="17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để</a:t>
            </a:r>
            <a:r>
              <a:rPr lang="en-US" sz="17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đưa</a:t>
            </a:r>
            <a:r>
              <a:rPr lang="en-US" sz="17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nghiên</a:t>
            </a:r>
            <a:r>
              <a:rPr lang="en-US" sz="17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cứu</a:t>
            </a:r>
            <a:r>
              <a:rPr lang="en-US" sz="17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hành</a:t>
            </a:r>
            <a:r>
              <a:rPr lang="en-US" sz="17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vi </a:t>
            </a:r>
            <a:r>
              <a:rPr lang="en-US" sz="17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của</a:t>
            </a:r>
            <a:r>
              <a:rPr lang="en-US" sz="17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khách</a:t>
            </a:r>
            <a:r>
              <a:rPr lang="en-US" sz="17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hang </a:t>
            </a:r>
            <a:r>
              <a:rPr lang="en-US" sz="17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khi</a:t>
            </a:r>
            <a:r>
              <a:rPr lang="en-US" sz="17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trễ</a:t>
            </a:r>
            <a:r>
              <a:rPr lang="en-US" sz="17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hạn</a:t>
            </a:r>
            <a:endParaRPr lang="en-US" sz="1700" dirty="0">
              <a:solidFill>
                <a:srgbClr val="2B1418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7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Từ</a:t>
            </a:r>
            <a:r>
              <a:rPr lang="en-US" sz="17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đó</a:t>
            </a:r>
            <a:r>
              <a:rPr lang="en-US" sz="17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đưa</a:t>
            </a:r>
            <a:r>
              <a:rPr lang="en-US" sz="17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ra</a:t>
            </a:r>
            <a:r>
              <a:rPr lang="en-US" sz="17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các</a:t>
            </a:r>
            <a:r>
              <a:rPr lang="en-US" sz="17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biện</a:t>
            </a:r>
            <a:r>
              <a:rPr lang="en-US" sz="17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pháp</a:t>
            </a:r>
            <a:r>
              <a:rPr lang="en-US" sz="17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thông</a:t>
            </a:r>
            <a:r>
              <a:rPr lang="en-US" sz="17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báo</a:t>
            </a:r>
            <a:r>
              <a:rPr lang="en-US" sz="17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cho</a:t>
            </a:r>
            <a:r>
              <a:rPr lang="en-US" sz="17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tệp</a:t>
            </a:r>
            <a:r>
              <a:rPr lang="en-US" sz="17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khách</a:t>
            </a:r>
            <a:r>
              <a:rPr lang="en-US" sz="17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hang PAY_1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Hoặc</a:t>
            </a:r>
            <a:r>
              <a:rPr lang="en-US" sz="17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có</a:t>
            </a:r>
            <a:r>
              <a:rPr lang="en-US" sz="17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những</a:t>
            </a:r>
            <a:r>
              <a:rPr lang="en-US" sz="17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biện</a:t>
            </a:r>
            <a:r>
              <a:rPr lang="en-US" sz="17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pháp</a:t>
            </a:r>
            <a:r>
              <a:rPr lang="en-US" sz="17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hỗ</a:t>
            </a:r>
            <a:r>
              <a:rPr lang="en-US" sz="17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trợ</a:t>
            </a:r>
            <a:r>
              <a:rPr lang="en-US" sz="17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cho</a:t>
            </a:r>
            <a:r>
              <a:rPr lang="en-US" sz="17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nhóm</a:t>
            </a:r>
            <a:r>
              <a:rPr lang="en-US" sz="17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PAY_2 </a:t>
            </a:r>
            <a:r>
              <a:rPr lang="en-US" sz="17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khi</a:t>
            </a:r>
            <a:r>
              <a:rPr lang="en-US" sz="17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tâm</a:t>
            </a:r>
            <a:r>
              <a:rPr lang="en-US" sz="17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lý</a:t>
            </a:r>
            <a:r>
              <a:rPr lang="en-US" sz="17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người</a:t>
            </a:r>
            <a:r>
              <a:rPr lang="en-US" sz="17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dùng</a:t>
            </a:r>
            <a:r>
              <a:rPr lang="en-US" sz="17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lo </a:t>
            </a:r>
            <a:r>
              <a:rPr lang="en-US" sz="17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lắng</a:t>
            </a:r>
            <a:r>
              <a:rPr lang="en-US" sz="17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về</a:t>
            </a:r>
            <a:r>
              <a:rPr lang="en-US" sz="17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các</a:t>
            </a:r>
            <a:r>
              <a:rPr lang="en-US" sz="17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khoản</a:t>
            </a:r>
            <a:r>
              <a:rPr lang="en-US" sz="17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lãi</a:t>
            </a:r>
            <a:r>
              <a:rPr lang="en-US" sz="17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phải</a:t>
            </a:r>
            <a:r>
              <a:rPr lang="en-US" sz="17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trả</a:t>
            </a:r>
            <a:r>
              <a:rPr lang="en-US" sz="17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quá</a:t>
            </a:r>
            <a:r>
              <a:rPr lang="en-US" sz="17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cao</a:t>
            </a:r>
            <a:r>
              <a:rPr lang="en-US" sz="1700" dirty="0">
                <a:solidFill>
                  <a:srgbClr val="2B141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BA86F317-CAA4-9664-3095-2288A9808781}"/>
              </a:ext>
            </a:extLst>
          </p:cNvPr>
          <p:cNvSpPr/>
          <p:nvPr/>
        </p:nvSpPr>
        <p:spPr>
          <a:xfrm>
            <a:off x="871026" y="2201176"/>
            <a:ext cx="823139" cy="823139"/>
          </a:xfrm>
          <a:prstGeom prst="ellipse">
            <a:avLst/>
          </a:prstGeom>
          <a:solidFill>
            <a:srgbClr val="F7F1F0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Image 2" descr="preencoded.png">
            <a:extLst>
              <a:ext uri="{FF2B5EF4-FFF2-40B4-BE49-F238E27FC236}">
                <a16:creationId xmlns:a16="http://schemas.microsoft.com/office/drawing/2014/main" id="{28EFDB87-FC23-CCC0-1729-FF138BD6A1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1538" y="2391688"/>
            <a:ext cx="442113" cy="442113"/>
          </a:xfrm>
          <a:prstGeom prst="rect">
            <a:avLst/>
          </a:prstGeom>
        </p:spPr>
      </p:pic>
      <p:sp>
        <p:nvSpPr>
          <p:cNvPr id="31" name="Shape 10">
            <a:extLst>
              <a:ext uri="{FF2B5EF4-FFF2-40B4-BE49-F238E27FC236}">
                <a16:creationId xmlns:a16="http://schemas.microsoft.com/office/drawing/2014/main" id="{9ED23CF8-E593-0E39-5267-15EBFB22E7B9}"/>
              </a:ext>
            </a:extLst>
          </p:cNvPr>
          <p:cNvSpPr/>
          <p:nvPr/>
        </p:nvSpPr>
        <p:spPr>
          <a:xfrm>
            <a:off x="6343650" y="1993390"/>
            <a:ext cx="5452110" cy="4354831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Shape 11">
            <a:extLst>
              <a:ext uri="{FF2B5EF4-FFF2-40B4-BE49-F238E27FC236}">
                <a16:creationId xmlns:a16="http://schemas.microsoft.com/office/drawing/2014/main" id="{579CC8BE-6B59-D137-31CD-7EFE83B030AE}"/>
              </a:ext>
            </a:extLst>
          </p:cNvPr>
          <p:cNvSpPr/>
          <p:nvPr/>
        </p:nvSpPr>
        <p:spPr>
          <a:xfrm>
            <a:off x="6634600" y="2203703"/>
            <a:ext cx="841771" cy="841771"/>
          </a:xfrm>
          <a:prstGeom prst="ellipse">
            <a:avLst/>
          </a:prstGeom>
          <a:solidFill>
            <a:srgbClr val="F7F1F0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3" name="Image 2" descr="preencoded.png">
            <a:extLst>
              <a:ext uri="{FF2B5EF4-FFF2-40B4-BE49-F238E27FC236}">
                <a16:creationId xmlns:a16="http://schemas.microsoft.com/office/drawing/2014/main" id="{3EBF21D5-EA82-A0F2-14AF-1E134202A4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7040" y="2366143"/>
            <a:ext cx="516890" cy="516890"/>
          </a:xfrm>
          <a:prstGeom prst="rect">
            <a:avLst/>
          </a:prstGeom>
        </p:spPr>
      </p:pic>
      <p:sp>
        <p:nvSpPr>
          <p:cNvPr id="34" name="Text 12">
            <a:extLst>
              <a:ext uri="{FF2B5EF4-FFF2-40B4-BE49-F238E27FC236}">
                <a16:creationId xmlns:a16="http://schemas.microsoft.com/office/drawing/2014/main" id="{B43704DE-606C-D7DF-AB43-92432FAA0A34}"/>
              </a:ext>
            </a:extLst>
          </p:cNvPr>
          <p:cNvSpPr/>
          <p:nvPr/>
        </p:nvSpPr>
        <p:spPr>
          <a:xfrm>
            <a:off x="7635240" y="2203703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D1B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Lý </a:t>
            </a:r>
            <a:r>
              <a:rPr lang="en-US" sz="2400" b="1" dirty="0" err="1">
                <a:solidFill>
                  <a:srgbClr val="6D1B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giải</a:t>
            </a:r>
            <a:r>
              <a:rPr lang="en-US" sz="2400" b="1" dirty="0">
                <a:solidFill>
                  <a:srgbClr val="6D1B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6D1B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nguyên</a:t>
            </a:r>
            <a:r>
              <a:rPr lang="en-US" sz="2400" b="1" dirty="0">
                <a:solidFill>
                  <a:srgbClr val="6D1B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6D1B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nhân</a:t>
            </a:r>
            <a:r>
              <a:rPr lang="en-US" sz="2400" b="1" dirty="0">
                <a:solidFill>
                  <a:srgbClr val="6D1B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6D1B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vỡ</a:t>
            </a:r>
            <a:r>
              <a:rPr lang="en-US" sz="2400" b="1" dirty="0">
                <a:solidFill>
                  <a:srgbClr val="6D1B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6D1B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nợ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 13">
            <a:extLst>
              <a:ext uri="{FF2B5EF4-FFF2-40B4-BE49-F238E27FC236}">
                <a16:creationId xmlns:a16="http://schemas.microsoft.com/office/drawing/2014/main" id="{8845C74C-F15E-DCB7-3C65-83900616CEA1}"/>
              </a:ext>
            </a:extLst>
          </p:cNvPr>
          <p:cNvSpPr/>
          <p:nvPr/>
        </p:nvSpPr>
        <p:spPr>
          <a:xfrm>
            <a:off x="7635240" y="2907790"/>
            <a:ext cx="3931920" cy="3302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Sử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quả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để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giải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thích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cho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nguyên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nhân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dẫn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đến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việc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thanh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toán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trễ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thể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mất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khả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năng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thanh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toán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Lý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giải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nhóm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khách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hang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hạn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mức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tín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thấp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thường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khả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năng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vỡ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nợ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cao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hơn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do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nhu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cầu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sử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tài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chính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đang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vượt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quá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so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mức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thu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nhập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tế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74139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D1B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DEA257-1C5B-A773-59EA-667C43FC8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35DFBF3-40C7-E98B-3D44-F08132E6E123}"/>
              </a:ext>
            </a:extLst>
          </p:cNvPr>
          <p:cNvSpPr/>
          <p:nvPr/>
        </p:nvSpPr>
        <p:spPr>
          <a:xfrm>
            <a:off x="-1371600" y="4754880"/>
            <a:ext cx="3840480" cy="3840480"/>
          </a:xfrm>
          <a:prstGeom prst="ellipse">
            <a:avLst/>
          </a:prstGeom>
          <a:solidFill>
            <a:srgbClr val="9E2B3F">
              <a:alpha val="55000"/>
            </a:srgbClr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805A6CAA-D205-984C-6865-FC2FC1498F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66928"/>
            <a:ext cx="457200" cy="4572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43DA8654-4B53-911A-BD43-9B296F8E35DD}"/>
              </a:ext>
            </a:extLst>
          </p:cNvPr>
          <p:cNvSpPr/>
          <p:nvPr/>
        </p:nvSpPr>
        <p:spPr>
          <a:xfrm>
            <a:off x="1188720" y="57607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56B7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Tài </a:t>
            </a:r>
            <a:r>
              <a:rPr lang="en-US" sz="1400" b="1" kern="0" spc="300" dirty="0" err="1">
                <a:solidFill>
                  <a:srgbClr val="C56B7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liệu</a:t>
            </a:r>
            <a:r>
              <a:rPr lang="en-US" sz="1400" b="1" kern="0" spc="300" dirty="0">
                <a:solidFill>
                  <a:srgbClr val="C56B7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b="1" kern="0" spc="300" dirty="0" err="1">
                <a:solidFill>
                  <a:srgbClr val="C56B7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tham</a:t>
            </a:r>
            <a:r>
              <a:rPr lang="en-US" sz="1400" b="1" kern="0" spc="300" dirty="0">
                <a:solidFill>
                  <a:srgbClr val="C56B7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b="1" kern="0" spc="300" dirty="0" err="1">
                <a:solidFill>
                  <a:srgbClr val="C56B7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khảo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29BDD9D8-17F6-595E-4CAD-01457C094957}"/>
              </a:ext>
            </a:extLst>
          </p:cNvPr>
          <p:cNvSpPr/>
          <p:nvPr/>
        </p:nvSpPr>
        <p:spPr>
          <a:xfrm>
            <a:off x="746759" y="1024128"/>
            <a:ext cx="10698481" cy="412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[1] I. C. Yeh and C. H. Lien, "The comparisons of data mining techniques...", 2009.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[2] Kaggle/UCI Machine Learning, "Default of credit card clients dataset".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[3] J. </a:t>
            </a:r>
            <a:r>
              <a:rPr lang="en-US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Gathergood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"Self-control, financial literacy and consumer over-indebtedness", 2012.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[4] S. E. Lea, et al., "Psychological factors in consumer debt", 1995.</a:t>
            </a:r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AA190DF3-900F-0506-8749-78E4E528EA3A}"/>
              </a:ext>
            </a:extLst>
          </p:cNvPr>
          <p:cNvSpPr/>
          <p:nvPr/>
        </p:nvSpPr>
        <p:spPr>
          <a:xfrm>
            <a:off x="11338560" y="634822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6E7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12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97425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</TotalTime>
  <Words>1265</Words>
  <Application>Microsoft Office PowerPoint</Application>
  <PresentationFormat>Widescreen</PresentationFormat>
  <Paragraphs>129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Random Forest dự đoán vỡ nợ tín dụng</dc:title>
  <dc:subject>PptxGenJS Presentation</dc:subject>
  <dc:creator>Nghiên cứu đề án Phân tích dữ liệu</dc:creator>
  <cp:lastModifiedBy>Office</cp:lastModifiedBy>
  <cp:revision>13</cp:revision>
  <dcterms:created xsi:type="dcterms:W3CDTF">2026-07-02T12:38:12Z</dcterms:created>
  <dcterms:modified xsi:type="dcterms:W3CDTF">2026-07-02T16:17:32Z</dcterms:modified>
</cp:coreProperties>
</file>